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6CD39564-FB60-E460-263F-7539F2BB95CA}">
          <p14:sldIdLst>
            <p14:sldId id="256"/>
            <p14:sldId id="257"/>
          </p14:sldIdLst>
        </p14:section>
        <p14:section name="Introducción" id="{A688155E-5DE1-A967-454A-D75BD2305B87}">
          <p14:sldIdLst>
            <p14:sldId id="258"/>
          </p14:sldIdLst>
        </p14:section>
        <p14:section name="La historia" id="{5BCEBE05-C0C2-F768-EA9F-25A246EDEC98}">
          <p14:sldIdLst>
            <p14:sldId id="259"/>
            <p14:sldId id="260"/>
          </p14:sldIdLst>
        </p14:section>
        <p14:section name="El mecanismo" id="{F27D16F0-7F3C-2F9D-E1D2-096C5F7A020E}">
          <p14:sldIdLst>
            <p14:sldId id="261"/>
            <p14:sldId id="262"/>
            <p14:sldId id="263"/>
          </p14:sldIdLst>
        </p14:section>
        <p14:section name="El código" id="{B7C6CD8C-E83A-AEBA-777B-ED31FC730A1A}">
          <p14:sldIdLst>
            <p14:sldId id="264"/>
            <p14:sldId id="265"/>
          </p14:sldIdLst>
        </p14:section>
        <p14:section name="Ejemplos" id="{49ED8D3E-B35E-5F3D-5B90-52621FF8EA9B}">
          <p14:sldIdLst>
            <p14:sldId id="266"/>
            <p14:sldId id="267"/>
            <p14:sldId id="268"/>
          </p14:sldIdLst>
        </p14:section>
        <p14:section name="Conclusión" id="{302457CF-245A-B297-E375-81E37CE4C2DD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65A167-FD0C-4E1D-B8FD-02C584F3C977}" v="7" dt="2026-10-07T16:34:06.6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74" autoAdjust="0"/>
    <p:restoredTop sz="94610"/>
  </p:normalViewPr>
  <p:slideViewPr>
    <p:cSldViewPr snapToGrid="0" snapToObjects="1">
      <p:cViewPr>
        <p:scale>
          <a:sx n="98" d="100"/>
          <a:sy n="98" d="100"/>
        </p:scale>
        <p:origin x="4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a montoya morales" userId="ee73fcd6eeb9b3d0" providerId="LiveId" clId="{8FD7582B-EDBA-4DF6-8528-3CF12E648C1D}"/>
    <pc:docChg chg="undo custSel modSld">
      <pc:chgData name="camila montoya morales" userId="ee73fcd6eeb9b3d0" providerId="LiveId" clId="{8FD7582B-EDBA-4DF6-8528-3CF12E648C1D}" dt="2026-10-07T16:40:28.870" v="547" actId="1440"/>
      <pc:docMkLst>
        <pc:docMk/>
      </pc:docMkLst>
      <pc:sldChg chg="modSp mod">
        <pc:chgData name="camila montoya morales" userId="ee73fcd6eeb9b3d0" providerId="LiveId" clId="{8FD7582B-EDBA-4DF6-8528-3CF12E648C1D}" dt="2026-10-07T16:40:28.870" v="547" actId="1440"/>
        <pc:sldMkLst>
          <pc:docMk/>
          <pc:sldMk cId="0" sldId="256"/>
        </pc:sldMkLst>
        <pc:spChg chg="mod">
          <ac:chgData name="camila montoya morales" userId="ee73fcd6eeb9b3d0" providerId="LiveId" clId="{8FD7582B-EDBA-4DF6-8528-3CF12E648C1D}" dt="2026-10-07T16:02:09.298" v="139" actId="20577"/>
          <ac:spMkLst>
            <pc:docMk/>
            <pc:sldMk cId="0" sldId="256"/>
            <ac:spMk id="9" creationId="{00000000-0000-0000-0000-000000000000}"/>
          </ac:spMkLst>
        </pc:spChg>
        <pc:picChg chg="mod">
          <ac:chgData name="camila montoya morales" userId="ee73fcd6eeb9b3d0" providerId="LiveId" clId="{8FD7582B-EDBA-4DF6-8528-3CF12E648C1D}" dt="2026-10-07T16:40:28.870" v="547" actId="1440"/>
          <ac:picMkLst>
            <pc:docMk/>
            <pc:sldMk cId="0" sldId="256"/>
            <ac:picMk id="14" creationId="{437A3E3F-B3B4-B3CC-7F0C-2C8AA3C464FC}"/>
          </ac:picMkLst>
        </pc:picChg>
      </pc:sldChg>
      <pc:sldChg chg="modSp mod">
        <pc:chgData name="camila montoya morales" userId="ee73fcd6eeb9b3d0" providerId="LiveId" clId="{8FD7582B-EDBA-4DF6-8528-3CF12E648C1D}" dt="2026-10-07T16:38:21.206" v="540" actId="1440"/>
        <pc:sldMkLst>
          <pc:docMk/>
          <pc:sldMk cId="0" sldId="260"/>
        </pc:sldMkLst>
        <pc:spChg chg="mod">
          <ac:chgData name="camila montoya morales" userId="ee73fcd6eeb9b3d0" providerId="LiveId" clId="{8FD7582B-EDBA-4DF6-8528-3CF12E648C1D}" dt="2026-10-05T16:06:27.461" v="0"/>
          <ac:spMkLst>
            <pc:docMk/>
            <pc:sldMk cId="0" sldId="260"/>
            <ac:spMk id="2" creationId="{00000000-0000-0000-0000-000000000000}"/>
          </ac:spMkLst>
        </pc:spChg>
        <pc:spChg chg="mod">
          <ac:chgData name="camila montoya morales" userId="ee73fcd6eeb9b3d0" providerId="LiveId" clId="{8FD7582B-EDBA-4DF6-8528-3CF12E648C1D}" dt="2026-10-07T16:03:36.253" v="141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camila montoya morales" userId="ee73fcd6eeb9b3d0" providerId="LiveId" clId="{8FD7582B-EDBA-4DF6-8528-3CF12E648C1D}" dt="2026-10-07T16:04:18.320" v="142" actId="20577"/>
          <ac:spMkLst>
            <pc:docMk/>
            <pc:sldMk cId="0" sldId="260"/>
            <ac:spMk id="15" creationId="{00000000-0000-0000-0000-000000000000}"/>
          </ac:spMkLst>
        </pc:spChg>
        <pc:picChg chg="mod">
          <ac:chgData name="camila montoya morales" userId="ee73fcd6eeb9b3d0" providerId="LiveId" clId="{8FD7582B-EDBA-4DF6-8528-3CF12E648C1D}" dt="2026-10-07T16:38:21.206" v="540" actId="1440"/>
          <ac:picMkLst>
            <pc:docMk/>
            <pc:sldMk cId="0" sldId="260"/>
            <ac:picMk id="19" creationId="{14839590-14C1-23AD-3BDF-6C1760E2C756}"/>
          </ac:picMkLst>
        </pc:picChg>
      </pc:sldChg>
      <pc:sldChg chg="addSp modSp mod">
        <pc:chgData name="camila montoya morales" userId="ee73fcd6eeb9b3d0" providerId="LiveId" clId="{8FD7582B-EDBA-4DF6-8528-3CF12E648C1D}" dt="2026-10-07T16:38:52.209" v="544" actId="14100"/>
        <pc:sldMkLst>
          <pc:docMk/>
          <pc:sldMk cId="0" sldId="261"/>
        </pc:sldMkLst>
        <pc:spChg chg="mod">
          <ac:chgData name="camila montoya morales" userId="ee73fcd6eeb9b3d0" providerId="LiveId" clId="{8FD7582B-EDBA-4DF6-8528-3CF12E648C1D}" dt="2026-10-07T16:14:27.002" v="277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camila montoya morales" userId="ee73fcd6eeb9b3d0" providerId="LiveId" clId="{8FD7582B-EDBA-4DF6-8528-3CF12E648C1D}" dt="2026-10-07T16:05:52.643" v="214" actId="20577"/>
          <ac:spMkLst>
            <pc:docMk/>
            <pc:sldMk cId="0" sldId="261"/>
            <ac:spMk id="7" creationId="{00000000-0000-0000-0000-000000000000}"/>
          </ac:spMkLst>
        </pc:spChg>
        <pc:picChg chg="add mod modCrop">
          <ac:chgData name="camila montoya morales" userId="ee73fcd6eeb9b3d0" providerId="LiveId" clId="{8FD7582B-EDBA-4DF6-8528-3CF12E648C1D}" dt="2026-10-07T16:38:42.414" v="542" actId="1440"/>
          <ac:picMkLst>
            <pc:docMk/>
            <pc:sldMk cId="0" sldId="261"/>
            <ac:picMk id="21" creationId="{F8803B95-0110-7AD1-6872-50FA059A9C4F}"/>
          </ac:picMkLst>
        </pc:picChg>
        <pc:picChg chg="add mod">
          <ac:chgData name="camila montoya morales" userId="ee73fcd6eeb9b3d0" providerId="LiveId" clId="{8FD7582B-EDBA-4DF6-8528-3CF12E648C1D}" dt="2026-10-07T16:38:46.614" v="543" actId="1440"/>
          <ac:picMkLst>
            <pc:docMk/>
            <pc:sldMk cId="0" sldId="261"/>
            <ac:picMk id="23" creationId="{0A437AE7-10B6-2856-2CB1-AD94124410D6}"/>
          </ac:picMkLst>
        </pc:picChg>
        <pc:picChg chg="add mod">
          <ac:chgData name="camila montoya morales" userId="ee73fcd6eeb9b3d0" providerId="LiveId" clId="{8FD7582B-EDBA-4DF6-8528-3CF12E648C1D}" dt="2026-10-07T16:38:52.209" v="544" actId="14100"/>
          <ac:picMkLst>
            <pc:docMk/>
            <pc:sldMk cId="0" sldId="261"/>
            <ac:picMk id="26" creationId="{C48A2251-64D8-5072-474F-1A016F412AB0}"/>
          </ac:picMkLst>
        </pc:picChg>
      </pc:sldChg>
      <pc:sldChg chg="addSp modSp mod">
        <pc:chgData name="camila montoya morales" userId="ee73fcd6eeb9b3d0" providerId="LiveId" clId="{8FD7582B-EDBA-4DF6-8528-3CF12E648C1D}" dt="2026-10-07T16:39:08.268" v="545" actId="1440"/>
        <pc:sldMkLst>
          <pc:docMk/>
          <pc:sldMk cId="0" sldId="262"/>
        </pc:sldMkLst>
        <pc:picChg chg="add mod modCrop">
          <ac:chgData name="camila montoya morales" userId="ee73fcd6eeb9b3d0" providerId="LiveId" clId="{8FD7582B-EDBA-4DF6-8528-3CF12E648C1D}" dt="2026-10-07T16:39:08.268" v="545" actId="1440"/>
          <ac:picMkLst>
            <pc:docMk/>
            <pc:sldMk cId="0" sldId="262"/>
            <ac:picMk id="23" creationId="{A7AB1634-EF08-2F12-306C-9B64A9F04C89}"/>
          </ac:picMkLst>
        </pc:picChg>
      </pc:sldChg>
      <pc:sldChg chg="delSp modSp mod">
        <pc:chgData name="camila montoya morales" userId="ee73fcd6eeb9b3d0" providerId="LiveId" clId="{8FD7582B-EDBA-4DF6-8528-3CF12E648C1D}" dt="2026-10-07T16:26:07.708" v="472" actId="478"/>
        <pc:sldMkLst>
          <pc:docMk/>
          <pc:sldMk cId="0" sldId="263"/>
        </pc:sldMkLst>
        <pc:spChg chg="del">
          <ac:chgData name="camila montoya morales" userId="ee73fcd6eeb9b3d0" providerId="LiveId" clId="{8FD7582B-EDBA-4DF6-8528-3CF12E648C1D}" dt="2026-10-07T16:26:07.708" v="472" actId="478"/>
          <ac:spMkLst>
            <pc:docMk/>
            <pc:sldMk cId="0" sldId="263"/>
            <ac:spMk id="4" creationId="{00000000-0000-0000-0000-000000000000}"/>
          </ac:spMkLst>
        </pc:spChg>
        <pc:graphicFrameChg chg="mod modGraphic">
          <ac:chgData name="camila montoya morales" userId="ee73fcd6eeb9b3d0" providerId="LiveId" clId="{8FD7582B-EDBA-4DF6-8528-3CF12E648C1D}" dt="2026-10-07T16:25:54.671" v="471" actId="20577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modSp mod">
        <pc:chgData name="camila montoya morales" userId="ee73fcd6eeb9b3d0" providerId="LiveId" clId="{8FD7582B-EDBA-4DF6-8528-3CF12E648C1D}" dt="2026-10-07T16:34:19.190" v="529" actId="20577"/>
        <pc:sldMkLst>
          <pc:docMk/>
          <pc:sldMk cId="0" sldId="264"/>
        </pc:sldMkLst>
        <pc:spChg chg="mod">
          <ac:chgData name="camila montoya morales" userId="ee73fcd6eeb9b3d0" providerId="LiveId" clId="{8FD7582B-EDBA-4DF6-8528-3CF12E648C1D}" dt="2026-10-07T16:31:53.861" v="482" actId="5793"/>
          <ac:spMkLst>
            <pc:docMk/>
            <pc:sldMk cId="0" sldId="264"/>
            <ac:spMk id="4" creationId="{00000000-0000-0000-0000-000000000000}"/>
          </ac:spMkLst>
        </pc:spChg>
        <pc:spChg chg="mod">
          <ac:chgData name="camila montoya morales" userId="ee73fcd6eeb9b3d0" providerId="LiveId" clId="{8FD7582B-EDBA-4DF6-8528-3CF12E648C1D}" dt="2026-10-07T16:31:57.501" v="492" actId="5793"/>
          <ac:spMkLst>
            <pc:docMk/>
            <pc:sldMk cId="0" sldId="264"/>
            <ac:spMk id="6" creationId="{00000000-0000-0000-0000-000000000000}"/>
          </ac:spMkLst>
        </pc:spChg>
        <pc:spChg chg="mod">
          <ac:chgData name="camila montoya morales" userId="ee73fcd6eeb9b3d0" providerId="LiveId" clId="{8FD7582B-EDBA-4DF6-8528-3CF12E648C1D}" dt="2026-10-07T16:32:06.559" v="502" actId="5793"/>
          <ac:spMkLst>
            <pc:docMk/>
            <pc:sldMk cId="0" sldId="264"/>
            <ac:spMk id="8" creationId="{00000000-0000-0000-0000-000000000000}"/>
          </ac:spMkLst>
        </pc:spChg>
        <pc:spChg chg="mod">
          <ac:chgData name="camila montoya morales" userId="ee73fcd6eeb9b3d0" providerId="LiveId" clId="{8FD7582B-EDBA-4DF6-8528-3CF12E648C1D}" dt="2026-10-07T16:32:13.377" v="512" actId="5793"/>
          <ac:spMkLst>
            <pc:docMk/>
            <pc:sldMk cId="0" sldId="264"/>
            <ac:spMk id="10" creationId="{00000000-0000-0000-0000-000000000000}"/>
          </ac:spMkLst>
        </pc:spChg>
        <pc:spChg chg="mod">
          <ac:chgData name="camila montoya morales" userId="ee73fcd6eeb9b3d0" providerId="LiveId" clId="{8FD7582B-EDBA-4DF6-8528-3CF12E648C1D}" dt="2026-10-07T16:34:19.190" v="529" actId="20577"/>
          <ac:spMkLst>
            <pc:docMk/>
            <pc:sldMk cId="0" sldId="264"/>
            <ac:spMk id="11" creationId="{00000000-0000-0000-0000-000000000000}"/>
          </ac:spMkLst>
        </pc:spChg>
      </pc:sldChg>
      <pc:sldChg chg="modSp mod">
        <pc:chgData name="camila montoya morales" userId="ee73fcd6eeb9b3d0" providerId="LiveId" clId="{8FD7582B-EDBA-4DF6-8528-3CF12E648C1D}" dt="2026-10-07T16:37:17.088" v="538" actId="1440"/>
        <pc:sldMkLst>
          <pc:docMk/>
          <pc:sldMk cId="0" sldId="270"/>
        </pc:sldMkLst>
        <pc:picChg chg="mod modCrop">
          <ac:chgData name="camila montoya morales" userId="ee73fcd6eeb9b3d0" providerId="LiveId" clId="{8FD7582B-EDBA-4DF6-8528-3CF12E648C1D}" dt="2026-10-07T16:37:17.088" v="538" actId="1440"/>
          <ac:picMkLst>
            <pc:docMk/>
            <pc:sldMk cId="0" sldId="270"/>
            <ac:picMk id="9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248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Destello, nuestro lenguaje esotérico. Se programa con cuatro linternas que proyectan luces de colores y formas.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Explicamos qué es un esolang con tres ejemplos famosos. Piet es el más parecido al nuestro porque también usa colores. Nuestro reto fue programar con luz.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Contamos la historia: Octavio viene de un planeta donde se habla con luces. En la Tierra nadie le entiende. El dato real de los cromatóforos le da credibilidad.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Explicamos el logo como parte de la historia: cada elemento del dibujo tiene un papel en el traductor de Octavio.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inspiraciones: la luz como señal, el disco giratorio del View-Master y las cámaras, y el obturador, que nos dio la idea de la pausa entre instrucciones. Aquí se puede añadir una foto del View-Master.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agujero de la ruleta tiene un color de celofán y una forma distinta, inspirado en el UNO para daltónicos. Además nos ayuda a que OpenCV no se equivoque.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destello son cuatro luces. La primera dice el tipo de instrucción: rojo es un dato, verde una operación y azul control de flujo. Las otras tres forman un número en base 3 o el código de la instrucción.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Destello es un lenguaje basado en pila. El 2 lo pone el destello anterior: RESTO no lleva el número, solo dice qué operación hacer con los dos de arriba de la pila.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datos y una operación. Cada dato es una letra del alfabeto. La operación PALABRA las escribe todas juntas.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if de C entra cuando la condición no es 0, igual que nuestro SI. RESTO calcula lo que sobra al dividir entre 2: si sobra 1 es impar.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Mientras n no sea cero, lo imprime y le resta uno. El bucle abre con rojo-verde-azul y cierra con los colores al revés, como un paréntesis de luz.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prototipo del pulpo demuestra la idea. Para llevarlo a la realidad, un dispositivo compacto: cuatro LEDs RGB en fila, botones para elegir cada luz, un botón de disparo y una app que traduzca las fotos a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con el destello PARAR, que es el fin del programa. Abrimos turno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17320"/>
            <a:ext cx="49377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606040"/>
            <a:ext cx="4937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chemeClr val="accent2"/>
                </a:solidFill>
              </a:rPr>
              <a:t>DESTELLO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80160"/>
            <a:ext cx="51206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17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Destello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606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Un lenguaje de programación esotérico hecho de luz, color y forma</a:t>
            </a:r>
            <a:endParaRPr lang="en-US" sz="1800" dirty="0"/>
          </a:p>
        </p:txBody>
      </p:sp>
      <p:sp>
        <p:nvSpPr>
          <p:cNvPr id="4" name="linterna 1"/>
          <p:cNvSpPr/>
          <p:nvPr/>
        </p:nvSpPr>
        <p:spPr>
          <a:xfrm>
            <a:off x="548640" y="960120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linterna 2"/>
          <p:cNvSpPr/>
          <p:nvPr/>
        </p:nvSpPr>
        <p:spPr>
          <a:xfrm>
            <a:off x="1197498" y="983529"/>
            <a:ext cx="245791" cy="245791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linterna 3"/>
          <p:cNvSpPr/>
          <p:nvPr/>
        </p:nvSpPr>
        <p:spPr>
          <a:xfrm>
            <a:off x="1594714" y="960120"/>
            <a:ext cx="292608" cy="292608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linterna 4"/>
          <p:cNvSpPr/>
          <p:nvPr/>
        </p:nvSpPr>
        <p:spPr>
          <a:xfrm>
            <a:off x="2015338" y="960120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54864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</a:rPr>
              <a:t>Lenguajes y Paradigmas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79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Equipo: Enzo Sánchez Pérez, Paloma Domínguez Montero, Diego Andrés </a:t>
            </a:r>
            <a:r>
              <a:rPr lang="en-US" sz="1200" dirty="0" err="1">
                <a:solidFill>
                  <a:schemeClr val="accent2"/>
                </a:solidFill>
              </a:rPr>
              <a:t>Boscán</a:t>
            </a:r>
            <a:r>
              <a:rPr lang="en-US" sz="1200" dirty="0">
                <a:solidFill>
                  <a:schemeClr val="accent2"/>
                </a:solidFill>
              </a:rPr>
              <a:t> </a:t>
            </a:r>
            <a:r>
              <a:rPr lang="en-US" sz="1200" dirty="0" err="1">
                <a:solidFill>
                  <a:schemeClr val="accent2"/>
                </a:solidFill>
              </a:rPr>
              <a:t>Guillamón</a:t>
            </a:r>
            <a:r>
              <a:rPr lang="en-US" sz="1200" dirty="0">
                <a:solidFill>
                  <a:schemeClr val="accent2"/>
                </a:solidFill>
              </a:rPr>
              <a:t> y Camila Montoya Morales</a:t>
            </a:r>
            <a:endParaRPr lang="en-US" sz="12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37A3E3F-B3B4-B3CC-7F0C-2C8AA3C46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065" y="1229320"/>
            <a:ext cx="2698572" cy="24764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Índice</a:t>
            </a:r>
            <a:endParaRPr lang="en-US" sz="3000" dirty="0"/>
          </a:p>
        </p:txBody>
      </p:sp>
      <p:sp>
        <p:nvSpPr>
          <p:cNvPr id="3" name="apartado 1"/>
          <p:cNvSpPr/>
          <p:nvPr/>
        </p:nvSpPr>
        <p:spPr>
          <a:xfrm>
            <a:off x="457200" y="118872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685800" y="13258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716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/>
                </a:solidFill>
              </a:rPr>
              <a:t>Introducción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642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Qué es un </a:t>
            </a:r>
            <a:r>
              <a:rPr lang="en-US" sz="1200" dirty="0" err="1">
                <a:solidFill>
                  <a:schemeClr val="accent2"/>
                </a:solidFill>
              </a:rPr>
              <a:t>lenguaje</a:t>
            </a:r>
            <a:r>
              <a:rPr lang="en-US" sz="1200" dirty="0">
                <a:solidFill>
                  <a:schemeClr val="accent2"/>
                </a:solidFill>
              </a:rPr>
              <a:t> </a:t>
            </a:r>
            <a:r>
              <a:rPr lang="en-US" sz="1200" dirty="0" err="1">
                <a:solidFill>
                  <a:schemeClr val="accent2"/>
                </a:solidFill>
              </a:rPr>
              <a:t>esotérico</a:t>
            </a:r>
            <a:r>
              <a:rPr lang="en-US" sz="1200" dirty="0">
                <a:solidFill>
                  <a:schemeClr val="accent2"/>
                </a:solidFill>
              </a:rPr>
              <a:t>.</a:t>
            </a:r>
            <a:endParaRPr lang="en-US" sz="1200" dirty="0"/>
          </a:p>
        </p:txBody>
      </p:sp>
      <p:sp>
        <p:nvSpPr>
          <p:cNvPr id="7" name="apartado 2"/>
          <p:cNvSpPr/>
          <p:nvPr/>
        </p:nvSpPr>
        <p:spPr>
          <a:xfrm>
            <a:off x="4663440" y="118872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4892040" y="13258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5532120" y="13716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/>
                </a:solidFill>
              </a:rPr>
              <a:t>La historia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6642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Octavio, el pulpo que </a:t>
            </a:r>
            <a:r>
              <a:rPr lang="en-US" sz="1200" dirty="0" err="1">
                <a:solidFill>
                  <a:schemeClr val="accent2"/>
                </a:solidFill>
              </a:rPr>
              <a:t>quería</a:t>
            </a:r>
            <a:r>
              <a:rPr lang="en-US" sz="1200" dirty="0">
                <a:solidFill>
                  <a:schemeClr val="accent2"/>
                </a:solidFill>
              </a:rPr>
              <a:t> </a:t>
            </a:r>
            <a:r>
              <a:rPr lang="en-US" sz="1200" dirty="0" err="1">
                <a:solidFill>
                  <a:schemeClr val="accent2"/>
                </a:solidFill>
              </a:rPr>
              <a:t>comunicarse</a:t>
            </a:r>
            <a:r>
              <a:rPr lang="en-US" sz="1200" dirty="0">
                <a:solidFill>
                  <a:schemeClr val="accent2"/>
                </a:solidFill>
              </a:rPr>
              <a:t> con </a:t>
            </a:r>
            <a:r>
              <a:rPr lang="en-US" sz="1200" dirty="0" err="1">
                <a:solidFill>
                  <a:schemeClr val="accent2"/>
                </a:solidFill>
              </a:rPr>
              <a:t>los</a:t>
            </a:r>
            <a:r>
              <a:rPr lang="en-US" sz="1200" dirty="0">
                <a:solidFill>
                  <a:schemeClr val="accent2"/>
                </a:solidFill>
              </a:rPr>
              <a:t> </a:t>
            </a:r>
            <a:r>
              <a:rPr lang="en-US" sz="1200" dirty="0" err="1">
                <a:solidFill>
                  <a:schemeClr val="accent2"/>
                </a:solidFill>
              </a:rPr>
              <a:t>humanos</a:t>
            </a:r>
            <a:r>
              <a:rPr lang="en-US" sz="1200" dirty="0">
                <a:solidFill>
                  <a:schemeClr val="accent2"/>
                </a:solidFill>
              </a:rPr>
              <a:t>.</a:t>
            </a:r>
            <a:endParaRPr lang="en-US" sz="1200" dirty="0"/>
          </a:p>
        </p:txBody>
      </p:sp>
      <p:sp>
        <p:nvSpPr>
          <p:cNvPr id="11" name="apartado 3"/>
          <p:cNvSpPr/>
          <p:nvPr/>
        </p:nvSpPr>
        <p:spPr>
          <a:xfrm>
            <a:off x="457200" y="228600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685800" y="24231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468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/>
                </a:solidFill>
              </a:rPr>
              <a:t>El mecanismo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761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Inspiración, accesibilidad y </a:t>
            </a:r>
            <a:r>
              <a:rPr lang="en-US" sz="1200" dirty="0" err="1">
                <a:solidFill>
                  <a:schemeClr val="accent2"/>
                </a:solidFill>
              </a:rPr>
              <a:t>materiales</a:t>
            </a:r>
            <a:r>
              <a:rPr lang="en-US" sz="1200" dirty="0">
                <a:solidFill>
                  <a:schemeClr val="accent2"/>
                </a:solidFill>
              </a:rPr>
              <a:t>.</a:t>
            </a:r>
            <a:endParaRPr lang="en-US" sz="1200" dirty="0"/>
          </a:p>
        </p:txBody>
      </p:sp>
      <p:sp>
        <p:nvSpPr>
          <p:cNvPr id="15" name="apartado 4"/>
          <p:cNvSpPr/>
          <p:nvPr/>
        </p:nvSpPr>
        <p:spPr>
          <a:xfrm>
            <a:off x="4663440" y="228600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 txBox="1"/>
          <p:nvPr/>
        </p:nvSpPr>
        <p:spPr>
          <a:xfrm>
            <a:off x="4892040" y="24231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5532120" y="2468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/>
                </a:solidFill>
              </a:rPr>
              <a:t>El código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2761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Cómo se lee un destello y la pila.</a:t>
            </a:r>
            <a:endParaRPr lang="en-US" sz="1200" dirty="0"/>
          </a:p>
        </p:txBody>
      </p:sp>
      <p:sp>
        <p:nvSpPr>
          <p:cNvPr id="19" name="apartado 5"/>
          <p:cNvSpPr/>
          <p:nvPr/>
        </p:nvSpPr>
        <p:spPr>
          <a:xfrm>
            <a:off x="457200" y="338328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 txBox="1"/>
          <p:nvPr/>
        </p:nvSpPr>
        <p:spPr>
          <a:xfrm>
            <a:off x="685800" y="3520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5661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/>
                </a:solidFill>
              </a:rPr>
              <a:t>Ejemplos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858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Hola · if / else · bucle while</a:t>
            </a:r>
            <a:endParaRPr lang="en-US" sz="1200" dirty="0"/>
          </a:p>
        </p:txBody>
      </p:sp>
      <p:sp>
        <p:nvSpPr>
          <p:cNvPr id="23" name="apartado 6"/>
          <p:cNvSpPr/>
          <p:nvPr/>
        </p:nvSpPr>
        <p:spPr>
          <a:xfrm>
            <a:off x="4663440" y="338328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 txBox="1"/>
          <p:nvPr/>
        </p:nvSpPr>
        <p:spPr>
          <a:xfrm>
            <a:off x="4892040" y="3520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35661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/>
                </a:solidFill>
              </a:rPr>
              <a:t>Conclusión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532120" y="3858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Cómo llevarlo a un </a:t>
            </a:r>
            <a:r>
              <a:rPr lang="en-US" sz="1200" dirty="0" err="1">
                <a:solidFill>
                  <a:schemeClr val="accent2"/>
                </a:solidFill>
              </a:rPr>
              <a:t>dispositivo</a:t>
            </a:r>
            <a:r>
              <a:rPr lang="en-US" sz="1200" dirty="0">
                <a:solidFill>
                  <a:schemeClr val="accent2"/>
                </a:solidFill>
              </a:rPr>
              <a:t> real.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un lenguaje esotérico?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Un lenguaje de programación que no busca ser práctico, sino explorar una idea: el arte, el humor o un reto. No tiene por qué ser cómodo, ni siquiera tiene por qué compilar.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146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Nuestro reto: </a:t>
            </a:r>
            <a:r>
              <a:rPr lang="en-US" sz="1600" dirty="0">
                <a:solidFill>
                  <a:schemeClr val="bg2"/>
                </a:solidFill>
              </a:rPr>
              <a:t>un lenguaje que no se escribe con teclado, sino con luz.</a:t>
            </a:r>
            <a:endParaRPr lang="en-US" sz="1600" dirty="0"/>
          </a:p>
        </p:txBody>
      </p:sp>
      <p:sp>
        <p:nvSpPr>
          <p:cNvPr id="5" name="Brainfuck"/>
          <p:cNvSpPr/>
          <p:nvPr/>
        </p:nvSpPr>
        <p:spPr>
          <a:xfrm>
            <a:off x="4572000" y="1097280"/>
            <a:ext cx="4114800" cy="987552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figura"/>
          <p:cNvSpPr/>
          <p:nvPr/>
        </p:nvSpPr>
        <p:spPr>
          <a:xfrm>
            <a:off x="4773168" y="1280160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 txBox="1"/>
          <p:nvPr/>
        </p:nvSpPr>
        <p:spPr>
          <a:xfrm>
            <a:off x="5212080" y="12435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2"/>
                </a:solidFill>
              </a:rPr>
              <a:t>Brainfuck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152704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2"/>
                </a:solidFill>
              </a:rPr>
              <a:t>Solo 8 símbolos como + - &lt; &gt; [ ]. Es casi imposible de leer, pero puede calcular cualquier cosa.</a:t>
            </a:r>
            <a:endParaRPr lang="en-US" sz="1150" dirty="0"/>
          </a:p>
        </p:txBody>
      </p:sp>
      <p:sp>
        <p:nvSpPr>
          <p:cNvPr id="9" name="Piet"/>
          <p:cNvSpPr/>
          <p:nvPr/>
        </p:nvSpPr>
        <p:spPr>
          <a:xfrm>
            <a:off x="4572000" y="2240280"/>
            <a:ext cx="4114800" cy="987552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figura"/>
          <p:cNvSpPr/>
          <p:nvPr/>
        </p:nvSpPr>
        <p:spPr>
          <a:xfrm>
            <a:off x="4795114" y="2445106"/>
            <a:ext cx="230429" cy="23042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 txBox="1"/>
          <p:nvPr/>
        </p:nvSpPr>
        <p:spPr>
          <a:xfrm>
            <a:off x="5212080" y="23865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2"/>
                </a:solidFill>
              </a:rPr>
              <a:t>Piet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267004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2"/>
                </a:solidFill>
              </a:rPr>
              <a:t>Los programas son imágenes de bloques de colores, inspiradas en los cuadros de Mondrian.</a:t>
            </a:r>
            <a:endParaRPr lang="en-US" sz="1150" dirty="0"/>
          </a:p>
        </p:txBody>
      </p:sp>
      <p:sp>
        <p:nvSpPr>
          <p:cNvPr id="13" name="Chef"/>
          <p:cNvSpPr/>
          <p:nvPr/>
        </p:nvSpPr>
        <p:spPr>
          <a:xfrm>
            <a:off x="4572000" y="3383280"/>
            <a:ext cx="4114800" cy="987552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figura"/>
          <p:cNvSpPr/>
          <p:nvPr/>
        </p:nvSpPr>
        <p:spPr>
          <a:xfrm>
            <a:off x="4773168" y="3566160"/>
            <a:ext cx="274320" cy="27432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 txBox="1"/>
          <p:nvPr/>
        </p:nvSpPr>
        <p:spPr>
          <a:xfrm>
            <a:off x="5212080" y="35295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2"/>
                </a:solidFill>
              </a:rPr>
              <a:t>Chef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381304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2"/>
                </a:solidFill>
              </a:rPr>
              <a:t>Los programas parecen recetas de cocina: los ingredientes son los datos.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visitante de las profundidades</a:t>
            </a:r>
            <a:endParaRPr lang="en-US" sz="3000" dirty="0"/>
          </a:p>
        </p:txBody>
      </p:sp>
      <p:sp>
        <p:nvSpPr>
          <p:cNvPr id="3" name="figura"/>
          <p:cNvSpPr/>
          <p:nvPr/>
        </p:nvSpPr>
        <p:spPr>
          <a:xfrm>
            <a:off x="457200" y="1216152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960120" y="11430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chemeClr val="bg2"/>
                </a:solidFill>
              </a:rPr>
              <a:t>En Octópolis, un planeta cubierto de océano, nadie habla.</a:t>
            </a:r>
            <a:r>
              <a:rPr lang="en-US" sz="1450" dirty="0">
                <a:solidFill>
                  <a:schemeClr val="accent2"/>
                </a:solidFill>
              </a:rPr>
              <a:t> Sus habitantes, pulpos, se comunican encendiendo luces de colores en la piel.</a:t>
            </a:r>
            <a:endParaRPr lang="en-US" sz="1450" dirty="0"/>
          </a:p>
        </p:txBody>
      </p:sp>
      <p:sp>
        <p:nvSpPr>
          <p:cNvPr id="5" name="figura"/>
          <p:cNvSpPr/>
          <p:nvPr/>
        </p:nvSpPr>
        <p:spPr>
          <a:xfrm>
            <a:off x="482072" y="2265152"/>
            <a:ext cx="261153" cy="261153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960120" y="216712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chemeClr val="bg2"/>
                </a:solidFill>
              </a:rPr>
              <a:t>Octavio, un pulpo explorador, llega a la Tierra</a:t>
            </a:r>
            <a:r>
              <a:rPr lang="en-US" sz="1450" dirty="0">
                <a:solidFill>
                  <a:schemeClr val="accent2"/>
                </a:solidFill>
              </a:rPr>
              <a:t> y quiere hacerse amigo de los humanos.</a:t>
            </a:r>
            <a:endParaRPr lang="en-US" sz="1450" dirty="0"/>
          </a:p>
        </p:txBody>
      </p:sp>
      <p:sp>
        <p:nvSpPr>
          <p:cNvPr id="7" name="figura"/>
          <p:cNvSpPr/>
          <p:nvPr/>
        </p:nvSpPr>
        <p:spPr>
          <a:xfrm>
            <a:off x="457200" y="3264408"/>
            <a:ext cx="310896" cy="310896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960120" y="3191256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chemeClr val="bg2"/>
                </a:solidFill>
              </a:rPr>
              <a:t>Lo intenta con sus luces…</a:t>
            </a:r>
            <a:r>
              <a:rPr lang="en-US" sz="1450" dirty="0">
                <a:solidFill>
                  <a:schemeClr val="accent2"/>
                </a:solidFill>
              </a:rPr>
              <a:t> pero nadie entiende nada. Para nosotros solo son destellos sin sentido.</a:t>
            </a:r>
            <a:endParaRPr lang="en-US" sz="1450" dirty="0"/>
          </a:p>
        </p:txBody>
      </p:sp>
      <p:sp>
        <p:nvSpPr>
          <p:cNvPr id="9" name="dato real"/>
          <p:cNvSpPr/>
          <p:nvPr/>
        </p:nvSpPr>
        <p:spPr>
          <a:xfrm>
            <a:off x="5760720" y="1143000"/>
            <a:ext cx="2926080" cy="3017520"/>
          </a:xfrm>
          <a:prstGeom prst="roundRect">
            <a:avLst>
              <a:gd name="adj" fmla="val 375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598932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6"/>
                </a:solidFill>
              </a:rPr>
              <a:t>DATO REAL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169164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Los pulpos de la Tierra también cambian de color para comunicarse. Lo hacen con células de pigmento en la piel llamadas cromatóforos.</a:t>
            </a:r>
            <a:endParaRPr lang="en-US" sz="1300" dirty="0"/>
          </a:p>
        </p:txBody>
      </p:sp>
      <p:sp>
        <p:nvSpPr>
          <p:cNvPr id="12" name="linterna 1"/>
          <p:cNvSpPr/>
          <p:nvPr/>
        </p:nvSpPr>
        <p:spPr>
          <a:xfrm>
            <a:off x="5989320" y="3429000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linterna 2"/>
          <p:cNvSpPr/>
          <p:nvPr/>
        </p:nvSpPr>
        <p:spPr>
          <a:xfrm>
            <a:off x="6483828" y="3448020"/>
            <a:ext cx="199705" cy="199705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linterna 3"/>
          <p:cNvSpPr/>
          <p:nvPr/>
        </p:nvSpPr>
        <p:spPr>
          <a:xfrm>
            <a:off x="6793992" y="3429000"/>
            <a:ext cx="237744" cy="237744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linterna 4"/>
          <p:cNvSpPr/>
          <p:nvPr/>
        </p:nvSpPr>
        <p:spPr>
          <a:xfrm>
            <a:off x="7142196" y="3448020"/>
            <a:ext cx="199705" cy="199705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dirty="0"/>
              <a:t>De la luz al código: la máquina de Octavio</a:t>
            </a:r>
            <a:endParaRPr lang="en-US" sz="3000" dirty="0"/>
          </a:p>
        </p:txBody>
      </p:sp>
      <p:sp>
        <p:nvSpPr>
          <p:cNvPr id="4" name="figura"/>
          <p:cNvSpPr/>
          <p:nvPr/>
        </p:nvSpPr>
        <p:spPr>
          <a:xfrm>
            <a:off x="4023360" y="1197864"/>
            <a:ext cx="219456" cy="219456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 txBox="1"/>
          <p:nvPr/>
        </p:nvSpPr>
        <p:spPr>
          <a:xfrm>
            <a:off x="4434840" y="1143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2"/>
                </a:solidFill>
              </a:rPr>
              <a:t>La pantalla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434840" y="1417320"/>
            <a:ext cx="4206240" cy="385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dirty="0">
                <a:solidFill>
                  <a:schemeClr val="accent2"/>
                </a:solidFill>
              </a:rPr>
              <a:t>Octavio se </a:t>
            </a:r>
            <a:r>
              <a:rPr lang="en-US" sz="1250" dirty="0" err="1">
                <a:solidFill>
                  <a:schemeClr val="accent2"/>
                </a:solidFill>
              </a:rPr>
              <a:t>esconde</a:t>
            </a:r>
            <a:r>
              <a:rPr lang="en-US" sz="1250" dirty="0">
                <a:solidFill>
                  <a:schemeClr val="accent2"/>
                </a:solidFill>
              </a:rPr>
              <a:t> </a:t>
            </a:r>
            <a:r>
              <a:rPr lang="en-US" sz="1250" dirty="0" err="1">
                <a:solidFill>
                  <a:schemeClr val="accent2"/>
                </a:solidFill>
              </a:rPr>
              <a:t>dentro</a:t>
            </a:r>
            <a:r>
              <a:rPr lang="en-US" sz="1250" dirty="0">
                <a:solidFill>
                  <a:schemeClr val="accent2"/>
                </a:solidFill>
              </a:rPr>
              <a:t> de </a:t>
            </a:r>
            <a:r>
              <a:rPr lang="en-US" sz="1250" dirty="0" err="1">
                <a:solidFill>
                  <a:schemeClr val="accent2"/>
                </a:solidFill>
              </a:rPr>
              <a:t>una</a:t>
            </a:r>
            <a:r>
              <a:rPr lang="en-US" sz="1250" dirty="0">
                <a:solidFill>
                  <a:schemeClr val="accent2"/>
                </a:solidFill>
              </a:rPr>
              <a:t> </a:t>
            </a:r>
            <a:r>
              <a:rPr lang="en-US" sz="1250" dirty="0" err="1">
                <a:solidFill>
                  <a:schemeClr val="accent2"/>
                </a:solidFill>
              </a:rPr>
              <a:t>máquina</a:t>
            </a:r>
            <a:r>
              <a:rPr lang="en-US" sz="1250" dirty="0">
                <a:solidFill>
                  <a:schemeClr val="accent2"/>
                </a:solidFill>
              </a:rPr>
              <a:t> </a:t>
            </a:r>
            <a:r>
              <a:rPr lang="en-US" sz="1250" dirty="0" err="1">
                <a:solidFill>
                  <a:schemeClr val="accent2"/>
                </a:solidFill>
              </a:rPr>
              <a:t>que</a:t>
            </a:r>
            <a:r>
              <a:rPr lang="en-US" sz="1250" dirty="0">
                <a:solidFill>
                  <a:schemeClr val="accent2"/>
                </a:solidFill>
              </a:rPr>
              <a:t> transcribe sus </a:t>
            </a:r>
            <a:r>
              <a:rPr lang="en-US" sz="1250" dirty="0" err="1">
                <a:solidFill>
                  <a:schemeClr val="accent2"/>
                </a:solidFill>
              </a:rPr>
              <a:t>destellos</a:t>
            </a:r>
            <a:r>
              <a:rPr lang="en-US" sz="1250" dirty="0">
                <a:solidFill>
                  <a:schemeClr val="accent2"/>
                </a:solidFill>
              </a:rPr>
              <a:t> de luz a </a:t>
            </a:r>
            <a:r>
              <a:rPr lang="en-US" sz="1250" dirty="0" err="1">
                <a:solidFill>
                  <a:schemeClr val="accent2"/>
                </a:solidFill>
              </a:rPr>
              <a:t>código</a:t>
            </a:r>
            <a:r>
              <a:rPr lang="en-US" sz="1250" dirty="0">
                <a:solidFill>
                  <a:schemeClr val="accent2"/>
                </a:solidFill>
              </a:rPr>
              <a:t>, para </a:t>
            </a:r>
            <a:r>
              <a:rPr lang="en-US" sz="1250" dirty="0" err="1">
                <a:solidFill>
                  <a:schemeClr val="accent2"/>
                </a:solidFill>
              </a:rPr>
              <a:t>traducirlo</a:t>
            </a:r>
            <a:r>
              <a:rPr lang="en-US" sz="1250" dirty="0">
                <a:solidFill>
                  <a:schemeClr val="accent2"/>
                </a:solidFill>
              </a:rPr>
              <a:t> a </a:t>
            </a:r>
            <a:r>
              <a:rPr lang="en-US" sz="1250" dirty="0" err="1">
                <a:solidFill>
                  <a:schemeClr val="accent2"/>
                </a:solidFill>
              </a:rPr>
              <a:t>nuestro</a:t>
            </a:r>
            <a:r>
              <a:rPr lang="en-US" sz="1250" dirty="0">
                <a:solidFill>
                  <a:schemeClr val="accent2"/>
                </a:solidFill>
              </a:rPr>
              <a:t> </a:t>
            </a:r>
            <a:r>
              <a:rPr lang="en-US" sz="1250" dirty="0" err="1">
                <a:solidFill>
                  <a:schemeClr val="accent2"/>
                </a:solidFill>
              </a:rPr>
              <a:t>idioma</a:t>
            </a:r>
            <a:r>
              <a:rPr lang="en-US" sz="1250" dirty="0">
                <a:solidFill>
                  <a:schemeClr val="accent2"/>
                </a:solidFill>
              </a:rPr>
              <a:t>.</a:t>
            </a:r>
            <a:endParaRPr lang="es-ES" sz="1400" dirty="0">
              <a:solidFill>
                <a:schemeClr val="accent2"/>
              </a:solidFill>
            </a:endParaRPr>
          </a:p>
          <a:p>
            <a:endParaRPr lang="en-US" sz="1250" dirty="0"/>
          </a:p>
        </p:txBody>
      </p:sp>
      <p:sp>
        <p:nvSpPr>
          <p:cNvPr id="7" name="figura"/>
          <p:cNvSpPr/>
          <p:nvPr/>
        </p:nvSpPr>
        <p:spPr>
          <a:xfrm>
            <a:off x="4040916" y="2140660"/>
            <a:ext cx="184343" cy="184343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 txBox="1"/>
          <p:nvPr/>
        </p:nvSpPr>
        <p:spPr>
          <a:xfrm>
            <a:off x="4434840" y="20956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2"/>
                </a:solidFill>
              </a:rPr>
              <a:t>El bigote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434840" y="2377695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accent2"/>
                </a:solidFill>
              </a:rPr>
              <a:t>Es su disfraz para parecer humano y no asustar a nadie.</a:t>
            </a:r>
            <a:endParaRPr lang="en-US" sz="1250" dirty="0"/>
          </a:p>
        </p:txBody>
      </p:sp>
      <p:sp>
        <p:nvSpPr>
          <p:cNvPr id="10" name="figura"/>
          <p:cNvSpPr/>
          <p:nvPr/>
        </p:nvSpPr>
        <p:spPr>
          <a:xfrm>
            <a:off x="4023360" y="2770632"/>
            <a:ext cx="219456" cy="219456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 txBox="1"/>
          <p:nvPr/>
        </p:nvSpPr>
        <p:spPr>
          <a:xfrm>
            <a:off x="4434840" y="2715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2"/>
                </a:solidFill>
              </a:rPr>
              <a:t>Los tentáculos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434840" y="2990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accent2"/>
                </a:solidFill>
              </a:rPr>
              <a:t>Son sus manos: giran las ruletas de colores de cada linterna.</a:t>
            </a:r>
            <a:endParaRPr lang="en-US" sz="1250" dirty="0"/>
          </a:p>
        </p:txBody>
      </p:sp>
      <p:sp>
        <p:nvSpPr>
          <p:cNvPr id="13" name="figura"/>
          <p:cNvSpPr/>
          <p:nvPr/>
        </p:nvSpPr>
        <p:spPr>
          <a:xfrm>
            <a:off x="4023360" y="3557016"/>
            <a:ext cx="219456" cy="219456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 txBox="1"/>
          <p:nvPr/>
        </p:nvSpPr>
        <p:spPr>
          <a:xfrm>
            <a:off x="4434840" y="35021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2"/>
                </a:solidFill>
              </a:rPr>
              <a:t>Los ojos y los altavoces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434840" y="37764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accent2"/>
                </a:solidFill>
              </a:rPr>
              <a:t>Esconden las 4 linternas, todas en fila. </a:t>
            </a:r>
          </a:p>
          <a:p>
            <a:pPr marL="0" indent="0">
              <a:buNone/>
            </a:pPr>
            <a:r>
              <a:rPr lang="en-US" sz="1250" dirty="0" err="1">
                <a:solidFill>
                  <a:schemeClr val="accent2"/>
                </a:solidFill>
              </a:rPr>
              <a:t>Así</a:t>
            </a:r>
            <a:r>
              <a:rPr lang="en-US" sz="1250" dirty="0">
                <a:solidFill>
                  <a:schemeClr val="accent2"/>
                </a:solidFill>
              </a:rPr>
              <a:t> nació Destello.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4839590-14C1-23AD-3BDF-6C1760E2C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48" y="1333516"/>
            <a:ext cx="2698572" cy="247646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Inspiración</a:t>
            </a:r>
            <a: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 </a:t>
            </a:r>
            <a:r>
              <a:rPr lang="en-US" sz="3000" b="1" dirty="0" err="1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creación</a:t>
            </a:r>
            <a: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del </a:t>
            </a:r>
            <a:r>
              <a:rPr lang="en-US" sz="3000" b="1" dirty="0" err="1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mecanismo</a:t>
            </a:r>
            <a: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endParaRPr lang="en-US" sz="3000" dirty="0"/>
          </a:p>
        </p:txBody>
      </p:sp>
      <p:sp>
        <p:nvSpPr>
          <p:cNvPr id="3" name="Focos y linternas"/>
          <p:cNvSpPr/>
          <p:nvPr/>
        </p:nvSpPr>
        <p:spPr>
          <a:xfrm>
            <a:off x="457200" y="1143000"/>
            <a:ext cx="2615184" cy="3246120"/>
          </a:xfrm>
          <a:prstGeom prst="roundRect">
            <a:avLst>
              <a:gd name="adj" fmla="val 419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halo"/>
          <p:cNvSpPr/>
          <p:nvPr/>
        </p:nvSpPr>
        <p:spPr>
          <a:xfrm>
            <a:off x="1380744" y="1490472"/>
            <a:ext cx="768096" cy="768096"/>
          </a:xfrm>
          <a:prstGeom prst="ellipse">
            <a:avLst/>
          </a:prstGeom>
          <a:solidFill>
            <a:schemeClr val="accent6">
              <a:alpha val="30000"/>
            </a:scheme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foco"/>
          <p:cNvSpPr/>
          <p:nvPr/>
        </p:nvSpPr>
        <p:spPr>
          <a:xfrm>
            <a:off x="1536192" y="164592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2"/>
                </a:solidFill>
              </a:rPr>
              <a:t>Focos y linternas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035808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La luz como señal, igual que los faros o el código morse. Cada linterna es un </a:t>
            </a:r>
            <a:r>
              <a:rPr lang="en-US" sz="1200" dirty="0" err="1">
                <a:solidFill>
                  <a:schemeClr val="accent2"/>
                </a:solidFill>
              </a:rPr>
              <a:t>dato</a:t>
            </a:r>
            <a:r>
              <a:rPr lang="en-US" sz="1200" dirty="0">
                <a:solidFill>
                  <a:schemeClr val="accent2"/>
                </a:solidFill>
              </a:rPr>
              <a:t>, </a:t>
            </a:r>
            <a:r>
              <a:rPr lang="en-US" sz="1200" dirty="0" err="1">
                <a:solidFill>
                  <a:schemeClr val="accent2"/>
                </a:solidFill>
              </a:rPr>
              <a:t>operación</a:t>
            </a:r>
            <a:r>
              <a:rPr lang="en-US" sz="1200" dirty="0">
                <a:solidFill>
                  <a:schemeClr val="accent2"/>
                </a:solidFill>
              </a:rPr>
              <a:t> o control del destello.</a:t>
            </a:r>
            <a:endParaRPr lang="en-US" sz="1200" dirty="0"/>
          </a:p>
        </p:txBody>
      </p:sp>
      <p:sp>
        <p:nvSpPr>
          <p:cNvPr id="8" name="Cámaras antiguas y View-Master"/>
          <p:cNvSpPr/>
          <p:nvPr/>
        </p:nvSpPr>
        <p:spPr>
          <a:xfrm>
            <a:off x="3273552" y="1143000"/>
            <a:ext cx="2615184" cy="3246120"/>
          </a:xfrm>
          <a:prstGeom prst="roundRect">
            <a:avLst>
              <a:gd name="adj" fmla="val 419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ruleta"/>
          <p:cNvSpPr/>
          <p:nvPr/>
        </p:nvSpPr>
        <p:spPr>
          <a:xfrm>
            <a:off x="4169664" y="1463040"/>
            <a:ext cx="822960" cy="822960"/>
          </a:xfrm>
          <a:prstGeom prst="ellipse">
            <a:avLst/>
          </a:prstGeom>
          <a:solidFill>
            <a:srgbClr val="3A3566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agujero rojo"/>
          <p:cNvSpPr/>
          <p:nvPr/>
        </p:nvSpPr>
        <p:spPr>
          <a:xfrm>
            <a:off x="4471416" y="1527048"/>
            <a:ext cx="219456" cy="219456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agujero verde"/>
          <p:cNvSpPr/>
          <p:nvPr/>
        </p:nvSpPr>
        <p:spPr>
          <a:xfrm>
            <a:off x="4269516" y="1946940"/>
            <a:ext cx="184343" cy="184343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agujero azul"/>
          <p:cNvSpPr/>
          <p:nvPr/>
        </p:nvSpPr>
        <p:spPr>
          <a:xfrm>
            <a:off x="4690872" y="1929384"/>
            <a:ext cx="219456" cy="219456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 txBox="1"/>
          <p:nvPr/>
        </p:nvSpPr>
        <p:spPr>
          <a:xfrm>
            <a:off x="3456432" y="251460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2"/>
                </a:solidFill>
              </a:rPr>
              <a:t>Cámaras antiguas y View-Master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035808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Un disco que gira y cambia lo que ves. De ahí sale la ruleta de 3 agujeros delante de cada linterna.</a:t>
            </a:r>
            <a:endParaRPr lang="en-US" sz="1200" dirty="0"/>
          </a:p>
        </p:txBody>
      </p:sp>
      <p:sp>
        <p:nvSpPr>
          <p:cNvPr id="15" name="El obturador"/>
          <p:cNvSpPr/>
          <p:nvPr/>
        </p:nvSpPr>
        <p:spPr>
          <a:xfrm>
            <a:off x="6089904" y="1143000"/>
            <a:ext cx="2615184" cy="3246120"/>
          </a:xfrm>
          <a:prstGeom prst="roundRect">
            <a:avLst>
              <a:gd name="adj" fmla="val 419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obturador"/>
          <p:cNvSpPr/>
          <p:nvPr/>
        </p:nvSpPr>
        <p:spPr>
          <a:xfrm>
            <a:off x="6986016" y="1463040"/>
            <a:ext cx="822960" cy="822960"/>
          </a:xfrm>
          <a:prstGeom prst="ellipse">
            <a:avLst/>
          </a:prstGeom>
          <a:solidFill>
            <a:srgbClr val="3A3566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apertura"/>
          <p:cNvSpPr/>
          <p:nvPr/>
        </p:nvSpPr>
        <p:spPr>
          <a:xfrm>
            <a:off x="7242048" y="1719072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 txBox="1"/>
          <p:nvPr/>
        </p:nvSpPr>
        <p:spPr>
          <a:xfrm>
            <a:off x="6272784" y="251460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2"/>
                </a:solidFill>
              </a:rPr>
              <a:t>El obturador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91072" y="3035808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Se abre y se cierra. Entre destello y destello todo se tapa: esa oscuridad es el salto de línea del código.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F8803B95-0110-7AD1-6872-50FA059A9C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438" r="50394" b="40317"/>
          <a:stretch>
            <a:fillRect/>
          </a:stretch>
        </p:blipFill>
        <p:spPr>
          <a:xfrm>
            <a:off x="4065903" y="3909060"/>
            <a:ext cx="1148166" cy="8869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0A437AE7-10B6-2856-2CB1-AD9412441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63" y="3914591"/>
            <a:ext cx="978844" cy="8759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C48A2251-64D8-5072-474F-1A016F412A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385" y="3954013"/>
            <a:ext cx="1241220" cy="7825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Colores que también se ven sin color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Inspiración: </a:t>
            </a:r>
            <a:r>
              <a:rPr lang="en-US" sz="1500" dirty="0">
                <a:solidFill>
                  <a:schemeClr val="bg2"/>
                </a:solidFill>
              </a:rPr>
              <a:t>el UNO ColorADD, una versión del juego para personas con daltonismo. Cada color lleva además un símbolo.</a:t>
            </a:r>
            <a:endParaRPr lang="en-US" sz="1500" dirty="0"/>
          </a:p>
        </p:txBody>
      </p:sp>
      <p:sp>
        <p:nvSpPr>
          <p:cNvPr id="4" name="Rojo"/>
          <p:cNvSpPr/>
          <p:nvPr/>
        </p:nvSpPr>
        <p:spPr>
          <a:xfrm>
            <a:off x="457200" y="1874520"/>
            <a:ext cx="1417320" cy="182880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figura"/>
          <p:cNvSpPr/>
          <p:nvPr/>
        </p:nvSpPr>
        <p:spPr>
          <a:xfrm>
            <a:off x="850392" y="21031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457200" y="2880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2"/>
                </a:solidFill>
              </a:rPr>
              <a:t>Rojo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1729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/>
                </a:solidFill>
              </a:rPr>
              <a:t>círculo</a:t>
            </a:r>
            <a:endParaRPr lang="en-US" sz="1200" dirty="0"/>
          </a:p>
        </p:txBody>
      </p:sp>
      <p:sp>
        <p:nvSpPr>
          <p:cNvPr id="8" name="Verde"/>
          <p:cNvSpPr/>
          <p:nvPr/>
        </p:nvSpPr>
        <p:spPr>
          <a:xfrm>
            <a:off x="2057400" y="1874520"/>
            <a:ext cx="1417320" cy="182880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figura"/>
          <p:cNvSpPr/>
          <p:nvPr/>
        </p:nvSpPr>
        <p:spPr>
          <a:xfrm>
            <a:off x="2501798" y="2154326"/>
            <a:ext cx="537667" cy="537667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2057400" y="2880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2"/>
                </a:solidFill>
              </a:rPr>
              <a:t>Verde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31729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/>
                </a:solidFill>
              </a:rPr>
              <a:t>cuadrado</a:t>
            </a:r>
            <a:endParaRPr lang="en-US" sz="1200" dirty="0"/>
          </a:p>
        </p:txBody>
      </p:sp>
      <p:sp>
        <p:nvSpPr>
          <p:cNvPr id="12" name="Azul"/>
          <p:cNvSpPr/>
          <p:nvPr/>
        </p:nvSpPr>
        <p:spPr>
          <a:xfrm>
            <a:off x="3657600" y="1874520"/>
            <a:ext cx="1417320" cy="182880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figura"/>
          <p:cNvSpPr/>
          <p:nvPr/>
        </p:nvSpPr>
        <p:spPr>
          <a:xfrm>
            <a:off x="4050792" y="2103120"/>
            <a:ext cx="640080" cy="64008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3657600" y="2880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2"/>
                </a:solidFill>
              </a:rPr>
              <a:t>Azul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1729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/>
                </a:solidFill>
              </a:rPr>
              <a:t>triángulo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18105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</a:rPr>
              <a:t>Accesible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207568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Si no distingues los colores, la forma te dice cuál es.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25420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</a:rPr>
              <a:t>Sirve en blanco y negro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280720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La partitura del programa se puede imprimir sin color.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32735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</a:rPr>
              <a:t>Doble comprobación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35387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OpenCV mira el color y la forma. Si no coinciden, se repite la foto.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A7AB1634-EF08-2F12-306C-9B64A9F04C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06" t="19900" r="43518"/>
          <a:stretch>
            <a:fillRect/>
          </a:stretch>
        </p:blipFill>
        <p:spPr>
          <a:xfrm>
            <a:off x="1411755" y="3697833"/>
            <a:ext cx="2708610" cy="13246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Materiales</a:t>
            </a:r>
            <a:endParaRPr lang="en-US" sz="3000" dirty="0"/>
          </a:p>
        </p:txBody>
      </p:sp>
      <p:graphicFrame>
        <p:nvGraphicFramePr>
          <p:cNvPr id="9" name="tabla de materia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94620"/>
              </p:ext>
            </p:extLst>
          </p:nvPr>
        </p:nvGraphicFramePr>
        <p:xfrm>
          <a:off x="457200" y="1097280"/>
          <a:ext cx="8229600" cy="3072384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Pieza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Para qué sirve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Material usado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</a:rPr>
                        <a:t>Linternas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</a:rPr>
                        <a:t>La luz de cada posición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4 </a:t>
                      </a:r>
                      <a:r>
                        <a:rPr lang="en-US" sz="1300" dirty="0" err="1">
                          <a:solidFill>
                            <a:schemeClr val="accent6"/>
                          </a:solidFill>
                        </a:rPr>
                        <a:t>linternas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</a:rPr>
                        <a:t>4 ruletas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</a:rPr>
                        <a:t>Elegir rojo, verde o azul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 err="1">
                          <a:solidFill>
                            <a:schemeClr val="accent6"/>
                          </a:solidFill>
                        </a:rPr>
                        <a:t>Cartón</a:t>
                      </a: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, palos de </a:t>
                      </a:r>
                      <a:r>
                        <a:rPr lang="en-US" sz="1300" dirty="0" err="1">
                          <a:solidFill>
                            <a:schemeClr val="accent6"/>
                          </a:solidFill>
                        </a:rPr>
                        <a:t>madera</a:t>
                      </a: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, </a:t>
                      </a:r>
                      <a:r>
                        <a:rPr lang="en-US" sz="1300" dirty="0" err="1">
                          <a:solidFill>
                            <a:schemeClr val="accent6"/>
                          </a:solidFill>
                        </a:rPr>
                        <a:t>bridas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</a:rPr>
                        <a:t>Filtros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</a:rPr>
                        <a:t>Dar color a la luz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Papel celofán rojo, verde y azul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</a:rPr>
                        <a:t>Figuras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</a:rPr>
                        <a:t>Círculo, cuadrado y triángulo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Tijeras, </a:t>
                      </a:r>
                      <a:r>
                        <a:rPr lang="en-US" sz="1300" dirty="0" err="1">
                          <a:solidFill>
                            <a:schemeClr val="accent6"/>
                          </a:solidFill>
                        </a:rPr>
                        <a:t>rotulador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</a:rPr>
                        <a:t>Estructura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</a:rPr>
                        <a:t>El pulpo y la pantalla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 err="1">
                          <a:solidFill>
                            <a:schemeClr val="accent6"/>
                          </a:solidFill>
                        </a:rPr>
                        <a:t>Cartón</a:t>
                      </a: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, </a:t>
                      </a:r>
                      <a:r>
                        <a:rPr lang="en-US" sz="1300" dirty="0" err="1">
                          <a:solidFill>
                            <a:schemeClr val="accent6"/>
                          </a:solidFill>
                        </a:rPr>
                        <a:t>cartulina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</a:rPr>
                        <a:t>Captura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</a:rPr>
                        <a:t>Fotografiar cada destello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Cámara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</a:rPr>
                        <a:t>Programa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</a:rPr>
                        <a:t>Leer las fotos y traducir a C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Python + OpenCV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se lee un destello</a:t>
            </a:r>
            <a:endParaRPr lang="en-US" sz="3000" dirty="0"/>
          </a:p>
        </p:txBody>
      </p:sp>
      <p:sp>
        <p:nvSpPr>
          <p:cNvPr id="3" name="figura"/>
          <p:cNvSpPr/>
          <p:nvPr/>
        </p:nvSpPr>
        <p:spPr>
          <a:xfrm>
            <a:off x="548640" y="132588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411480" y="198424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chemeClr val="accent6"/>
                </a:solidFill>
              </a:rPr>
              <a:t>Linterna</a:t>
            </a:r>
            <a:r>
              <a:rPr lang="en-US" sz="1100" b="1" dirty="0">
                <a:solidFill>
                  <a:schemeClr val="accent6"/>
                </a:solidFill>
              </a:rPr>
              <a:t> 1 · TIPO</a:t>
            </a:r>
            <a:endParaRPr lang="en-US" sz="1100" dirty="0"/>
          </a:p>
        </p:txBody>
      </p:sp>
      <p:sp>
        <p:nvSpPr>
          <p:cNvPr id="5" name="figura"/>
          <p:cNvSpPr/>
          <p:nvPr/>
        </p:nvSpPr>
        <p:spPr>
          <a:xfrm>
            <a:off x="1737360" y="132588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1600200" y="198424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chemeClr val="accent2"/>
                </a:solidFill>
              </a:rPr>
              <a:t>Linterna</a:t>
            </a:r>
            <a:r>
              <a:rPr lang="en-US" sz="1100" b="1" dirty="0">
                <a:solidFill>
                  <a:schemeClr val="accent2"/>
                </a:solidFill>
              </a:rPr>
              <a:t> 2 · ×9</a:t>
            </a:r>
            <a:endParaRPr lang="en-US" sz="1100" dirty="0"/>
          </a:p>
        </p:txBody>
      </p:sp>
      <p:sp>
        <p:nvSpPr>
          <p:cNvPr id="7" name="figura"/>
          <p:cNvSpPr/>
          <p:nvPr/>
        </p:nvSpPr>
        <p:spPr>
          <a:xfrm>
            <a:off x="2606040" y="1325880"/>
            <a:ext cx="566928" cy="566928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2468880" y="198424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chemeClr val="accent2"/>
                </a:solidFill>
              </a:rPr>
              <a:t>Linterna</a:t>
            </a:r>
            <a:r>
              <a:rPr lang="en-US" sz="1100" b="1" dirty="0">
                <a:solidFill>
                  <a:schemeClr val="accent2"/>
                </a:solidFill>
              </a:rPr>
              <a:t> 3 · ×3</a:t>
            </a:r>
            <a:endParaRPr lang="en-US" sz="1100" dirty="0"/>
          </a:p>
        </p:txBody>
      </p:sp>
      <p:sp>
        <p:nvSpPr>
          <p:cNvPr id="9" name="figura"/>
          <p:cNvSpPr/>
          <p:nvPr/>
        </p:nvSpPr>
        <p:spPr>
          <a:xfrm>
            <a:off x="3520074" y="1371234"/>
            <a:ext cx="476220" cy="47622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3337560" y="198424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chemeClr val="accent2"/>
                </a:solidFill>
              </a:rPr>
              <a:t>Linterna</a:t>
            </a:r>
            <a:r>
              <a:rPr lang="en-US" sz="1100" b="1" dirty="0">
                <a:solidFill>
                  <a:schemeClr val="accent2"/>
                </a:solidFill>
              </a:rPr>
              <a:t> 4 · ×1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chemeClr val="accent2"/>
                </a:solidFill>
              </a:rPr>
              <a:t>Valor de cada color:  </a:t>
            </a:r>
            <a:r>
              <a:rPr lang="en-US" sz="1300" b="1" dirty="0">
                <a:solidFill>
                  <a:schemeClr val="bg2"/>
                </a:solidFill>
              </a:rPr>
              <a:t>rojo 0 · </a:t>
            </a:r>
            <a:r>
              <a:rPr lang="en-US" sz="1300" b="1" dirty="0" err="1">
                <a:solidFill>
                  <a:schemeClr val="bg2"/>
                </a:solidFill>
              </a:rPr>
              <a:t>azul</a:t>
            </a:r>
            <a:r>
              <a:rPr lang="en-US" sz="1300" b="1" dirty="0">
                <a:solidFill>
                  <a:schemeClr val="bg2"/>
                </a:solidFill>
              </a:rPr>
              <a:t> 2 · </a:t>
            </a:r>
            <a:r>
              <a:rPr lang="en-US" sz="1300" b="1" dirty="0" err="1">
                <a:solidFill>
                  <a:schemeClr val="bg2"/>
                </a:solidFill>
              </a:rPr>
              <a:t>verde</a:t>
            </a:r>
            <a:r>
              <a:rPr lang="en-US" sz="1300" b="1" dirty="0">
                <a:solidFill>
                  <a:schemeClr val="bg2"/>
                </a:solidFill>
              </a:rPr>
              <a:t> 1 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85292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</a:rPr>
              <a:t>Ejemplo:  </a:t>
            </a:r>
            <a:r>
              <a:rPr lang="en-US" sz="1300" b="1" dirty="0">
                <a:solidFill>
                  <a:schemeClr val="accent6"/>
                </a:solidFill>
              </a:rPr>
              <a:t>0×9 + 2×3 + 1 = 7</a:t>
            </a:r>
            <a:r>
              <a:rPr lang="en-US" sz="1300" dirty="0">
                <a:solidFill>
                  <a:schemeClr val="accent2"/>
                </a:solidFill>
              </a:rPr>
              <a:t>  → el número 7, o la letra H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747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Con tres linternas salen 27 valores (del 0 al 26): justo las 27 letras del alfabeto español.</a:t>
            </a:r>
            <a:endParaRPr lang="en-US" sz="1200" dirty="0"/>
          </a:p>
        </p:txBody>
      </p:sp>
      <p:sp>
        <p:nvSpPr>
          <p:cNvPr id="14" name="tabla linterna 1"/>
          <p:cNvSpPr/>
          <p:nvPr/>
        </p:nvSpPr>
        <p:spPr>
          <a:xfrm>
            <a:off x="4709160" y="1143000"/>
            <a:ext cx="3977640" cy="31089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 txBox="1"/>
          <p:nvPr/>
        </p:nvSpPr>
        <p:spPr>
          <a:xfrm>
            <a:off x="4937760" y="12984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2"/>
                </a:solidFill>
              </a:rPr>
              <a:t>LINTERNA 1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12984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2"/>
                </a:solidFill>
              </a:rPr>
              <a:t>LAS OTRAS TRES SIGNIFICAN…</a:t>
            </a:r>
            <a:endParaRPr lang="en-US" sz="900" dirty="0"/>
          </a:p>
        </p:txBody>
      </p:sp>
      <p:sp>
        <p:nvSpPr>
          <p:cNvPr id="17" name="figura"/>
          <p:cNvSpPr/>
          <p:nvPr/>
        </p:nvSpPr>
        <p:spPr>
          <a:xfrm>
            <a:off x="4937760" y="1737360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 txBox="1"/>
          <p:nvPr/>
        </p:nvSpPr>
        <p:spPr>
          <a:xfrm>
            <a:off x="5394960" y="16916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Dato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1691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2"/>
                </a:solidFill>
              </a:rPr>
              <a:t>un número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●▲● sería el 6</a:t>
            </a:r>
            <a:endParaRPr lang="en-US" sz="1200" dirty="0"/>
          </a:p>
        </p:txBody>
      </p:sp>
      <p:sp>
        <p:nvSpPr>
          <p:cNvPr id="21" name="figura"/>
          <p:cNvSpPr/>
          <p:nvPr/>
        </p:nvSpPr>
        <p:spPr>
          <a:xfrm>
            <a:off x="4964095" y="2586655"/>
            <a:ext cx="276515" cy="276515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 txBox="1"/>
          <p:nvPr/>
        </p:nvSpPr>
        <p:spPr>
          <a:xfrm>
            <a:off x="5394960" y="25146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Operación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2"/>
                </a:solidFill>
              </a:rPr>
              <a:t>qué operación hacer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●▲● = RESTO</a:t>
            </a:r>
            <a:endParaRPr lang="en-US" sz="1200" dirty="0"/>
          </a:p>
        </p:txBody>
      </p:sp>
      <p:sp>
        <p:nvSpPr>
          <p:cNvPr id="25" name="figura"/>
          <p:cNvSpPr/>
          <p:nvPr/>
        </p:nvSpPr>
        <p:spPr>
          <a:xfrm>
            <a:off x="4937760" y="3383280"/>
            <a:ext cx="329184" cy="329184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 txBox="1"/>
          <p:nvPr/>
        </p:nvSpPr>
        <p:spPr>
          <a:xfrm>
            <a:off x="5394960" y="33375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Control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2"/>
                </a:solidFill>
              </a:rPr>
              <a:t>qué control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●●● = SI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lenguaje de pila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Notación polaca inversa. </a:t>
            </a:r>
            <a:r>
              <a:rPr lang="en-US" sz="1400" dirty="0">
                <a:solidFill>
                  <a:schemeClr val="bg2"/>
                </a:solidFill>
              </a:rPr>
              <a:t>Destello guarda los números en una pila, como un montón de platos: lo último que pones queda arriba. Las operaciones usan los de arriba.</a:t>
            </a:r>
            <a:endParaRPr lang="en-US" sz="1400" dirty="0"/>
          </a:p>
        </p:txBody>
      </p:sp>
      <p:sp>
        <p:nvSpPr>
          <p:cNvPr id="4" name="comparación"/>
          <p:cNvSpPr/>
          <p:nvPr/>
        </p:nvSpPr>
        <p:spPr>
          <a:xfrm>
            <a:off x="457200" y="2423160"/>
            <a:ext cx="39319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685800" y="25420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En matemáticas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7 % 2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2542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En Destello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2 RESTO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5204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Así funcionaban las calculadoras HP antiguas. Lenguajes reales como Forth o PostScript también son de pila.</a:t>
            </a:r>
            <a:endParaRPr lang="en-US" sz="1200" dirty="0"/>
          </a:p>
        </p:txBody>
      </p:sp>
      <p:sp>
        <p:nvSpPr>
          <p:cNvPr id="10" name="linterna 1"/>
          <p:cNvSpPr/>
          <p:nvPr/>
        </p:nvSpPr>
        <p:spPr>
          <a:xfrm>
            <a:off x="4800600" y="118872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linterna 2"/>
          <p:cNvSpPr/>
          <p:nvPr/>
        </p:nvSpPr>
        <p:spPr>
          <a:xfrm>
            <a:off x="5126126" y="118872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linterna 3"/>
          <p:cNvSpPr/>
          <p:nvPr/>
        </p:nvSpPr>
        <p:spPr>
          <a:xfrm>
            <a:off x="5363870" y="1188720"/>
            <a:ext cx="182880" cy="18288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linterna 4"/>
          <p:cNvSpPr/>
          <p:nvPr/>
        </p:nvSpPr>
        <p:spPr>
          <a:xfrm>
            <a:off x="5616245" y="1203350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4754880" y="1463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dato 7</a:t>
            </a:r>
            <a:endParaRPr lang="en-US" sz="1300" dirty="0"/>
          </a:p>
        </p:txBody>
      </p:sp>
      <p:sp>
        <p:nvSpPr>
          <p:cNvPr id="15" name="plato 7"/>
          <p:cNvSpPr/>
          <p:nvPr/>
        </p:nvSpPr>
        <p:spPr>
          <a:xfrm>
            <a:off x="4892040" y="3182112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3A332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 txBox="1"/>
          <p:nvPr/>
        </p:nvSpPr>
        <p:spPr>
          <a:xfrm>
            <a:off x="4892040" y="31821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000" dirty="0"/>
          </a:p>
        </p:txBody>
      </p:sp>
      <p:sp>
        <p:nvSpPr>
          <p:cNvPr id="17" name="base de la pila"/>
          <p:cNvSpPr/>
          <p:nvPr/>
        </p:nvSpPr>
        <p:spPr>
          <a:xfrm>
            <a:off x="4800600" y="3803904"/>
            <a:ext cx="109728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 txBox="1"/>
          <p:nvPr/>
        </p:nvSpPr>
        <p:spPr>
          <a:xfrm>
            <a:off x="5916168" y="29260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2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linterna 1"/>
          <p:cNvSpPr/>
          <p:nvPr/>
        </p:nvSpPr>
        <p:spPr>
          <a:xfrm>
            <a:off x="6126480" y="118872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linterna 2"/>
          <p:cNvSpPr/>
          <p:nvPr/>
        </p:nvSpPr>
        <p:spPr>
          <a:xfrm>
            <a:off x="6452006" y="118872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linterna 3"/>
          <p:cNvSpPr/>
          <p:nvPr/>
        </p:nvSpPr>
        <p:spPr>
          <a:xfrm>
            <a:off x="6689750" y="118872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linterna 4"/>
          <p:cNvSpPr/>
          <p:nvPr/>
        </p:nvSpPr>
        <p:spPr>
          <a:xfrm>
            <a:off x="6927494" y="1188720"/>
            <a:ext cx="182880" cy="18288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 txBox="1"/>
          <p:nvPr/>
        </p:nvSpPr>
        <p:spPr>
          <a:xfrm>
            <a:off x="6080760" y="1463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dato 2</a:t>
            </a:r>
            <a:endParaRPr lang="en-US" sz="1300" dirty="0"/>
          </a:p>
        </p:txBody>
      </p:sp>
      <p:sp>
        <p:nvSpPr>
          <p:cNvPr id="24" name="plato 7"/>
          <p:cNvSpPr/>
          <p:nvPr/>
        </p:nvSpPr>
        <p:spPr>
          <a:xfrm>
            <a:off x="6217920" y="3182112"/>
            <a:ext cx="914400" cy="475488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 w="12700">
            <a:solidFill>
              <a:srgbClr val="3A356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 txBox="1"/>
          <p:nvPr/>
        </p:nvSpPr>
        <p:spPr>
          <a:xfrm>
            <a:off x="6217920" y="31821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000" dirty="0"/>
          </a:p>
        </p:txBody>
      </p:sp>
      <p:sp>
        <p:nvSpPr>
          <p:cNvPr id="26" name="plato 2"/>
          <p:cNvSpPr/>
          <p:nvPr/>
        </p:nvSpPr>
        <p:spPr>
          <a:xfrm>
            <a:off x="6217920" y="2615184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3A332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 txBox="1"/>
          <p:nvPr/>
        </p:nvSpPr>
        <p:spPr>
          <a:xfrm>
            <a:off x="6217920" y="261518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28" name="base de la pila"/>
          <p:cNvSpPr/>
          <p:nvPr/>
        </p:nvSpPr>
        <p:spPr>
          <a:xfrm>
            <a:off x="6126480" y="3803904"/>
            <a:ext cx="109728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 txBox="1"/>
          <p:nvPr/>
        </p:nvSpPr>
        <p:spPr>
          <a:xfrm>
            <a:off x="7242048" y="29260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2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linterna 1"/>
          <p:cNvSpPr/>
          <p:nvPr/>
        </p:nvSpPr>
        <p:spPr>
          <a:xfrm>
            <a:off x="7466990" y="1203350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linterna 2"/>
          <p:cNvSpPr/>
          <p:nvPr/>
        </p:nvSpPr>
        <p:spPr>
          <a:xfrm>
            <a:off x="7777886" y="118872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linterna 3"/>
          <p:cNvSpPr/>
          <p:nvPr/>
        </p:nvSpPr>
        <p:spPr>
          <a:xfrm>
            <a:off x="8015630" y="1188720"/>
            <a:ext cx="182880" cy="18288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linterna 4"/>
          <p:cNvSpPr/>
          <p:nvPr/>
        </p:nvSpPr>
        <p:spPr>
          <a:xfrm>
            <a:off x="8253374" y="118872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 txBox="1"/>
          <p:nvPr/>
        </p:nvSpPr>
        <p:spPr>
          <a:xfrm>
            <a:off x="7406640" y="1463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/>
                </a:solidFill>
              </a:rPr>
              <a:t>RESTO</a:t>
            </a:r>
            <a:endParaRPr lang="en-US" sz="1300" dirty="0"/>
          </a:p>
        </p:txBody>
      </p:sp>
      <p:sp>
        <p:nvSpPr>
          <p:cNvPr id="35" name="plato 1"/>
          <p:cNvSpPr/>
          <p:nvPr/>
        </p:nvSpPr>
        <p:spPr>
          <a:xfrm>
            <a:off x="7543800" y="3182112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3A332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 txBox="1"/>
          <p:nvPr/>
        </p:nvSpPr>
        <p:spPr>
          <a:xfrm>
            <a:off x="7543800" y="31821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37" name="base de la pila"/>
          <p:cNvSpPr/>
          <p:nvPr/>
        </p:nvSpPr>
        <p:spPr>
          <a:xfrm>
            <a:off x="7452360" y="3803904"/>
            <a:ext cx="109728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 txBox="1"/>
          <p:nvPr/>
        </p:nvSpPr>
        <p:spPr>
          <a:xfrm>
            <a:off x="4754880" y="3931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/>
                </a:solidFill>
              </a:rPr>
              <a:t>7 ÷ 2 = 3 y sobran 1: RESTO deja solo lo que sobra</a:t>
            </a:r>
            <a:endParaRPr lang="en-US" sz="11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1 · Hola</a:t>
            </a:r>
            <a:endParaRPr lang="en-US" sz="3000" dirty="0"/>
          </a:p>
        </p:txBody>
      </p:sp>
      <p:sp>
        <p:nvSpPr>
          <p:cNvPr id="3" name="código C"/>
          <p:cNvSpPr/>
          <p:nvPr/>
        </p:nvSpPr>
        <p:spPr>
          <a:xfrm>
            <a:off x="457200" y="109728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0C0B1C"/>
          </a:solidFill>
          <a:ln w="12700">
            <a:solidFill>
              <a:srgbClr val="3A356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printf("HOLA");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74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SALIDA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21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HOLA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97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FOTOS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44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5661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2"/>
                </a:solidFill>
              </a:rPr>
              <a:t>Las letras son números: A = 0, B = 1 … H = 7 … Z = 26. PALABRA escribe toda la pila como letras de una vez.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0972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#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858768" y="10972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2"/>
                </a:solidFill>
              </a:rPr>
              <a:t>LINTERNAS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184648" y="10972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2"/>
                </a:solidFill>
              </a:rPr>
              <a:t>TIPO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419088" y="10972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2"/>
                </a:solidFill>
              </a:rPr>
              <a:t>QUÉ HACE</a:t>
            </a:r>
            <a:endParaRPr lang="en-US" sz="900" dirty="0"/>
          </a:p>
        </p:txBody>
      </p:sp>
      <p:sp>
        <p:nvSpPr>
          <p:cNvPr id="14" name="fila"/>
          <p:cNvSpPr/>
          <p:nvPr/>
        </p:nvSpPr>
        <p:spPr>
          <a:xfrm>
            <a:off x="3493008" y="1554480"/>
            <a:ext cx="5266944" cy="4572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 txBox="1"/>
          <p:nvPr/>
        </p:nvSpPr>
        <p:spPr>
          <a:xfrm>
            <a:off x="3566160" y="15544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linterna 1"/>
          <p:cNvSpPr/>
          <p:nvPr/>
        </p:nvSpPr>
        <p:spPr>
          <a:xfrm>
            <a:off x="3858768" y="169164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linterna 2"/>
          <p:cNvSpPr/>
          <p:nvPr/>
        </p:nvSpPr>
        <p:spPr>
          <a:xfrm>
            <a:off x="4193804" y="169164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linterna 3"/>
          <p:cNvSpPr/>
          <p:nvPr/>
        </p:nvSpPr>
        <p:spPr>
          <a:xfrm>
            <a:off x="4435206" y="1691640"/>
            <a:ext cx="182880" cy="18288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linterna 4"/>
          <p:cNvSpPr/>
          <p:nvPr/>
        </p:nvSpPr>
        <p:spPr>
          <a:xfrm>
            <a:off x="4691238" y="1706270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 txBox="1"/>
          <p:nvPr/>
        </p:nvSpPr>
        <p:spPr>
          <a:xfrm>
            <a:off x="5184648" y="1554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Dato 7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15544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Pone la H en la pila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20116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linterna 1"/>
          <p:cNvSpPr/>
          <p:nvPr/>
        </p:nvSpPr>
        <p:spPr>
          <a:xfrm>
            <a:off x="3858768" y="214884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linterna 2"/>
          <p:cNvSpPr/>
          <p:nvPr/>
        </p:nvSpPr>
        <p:spPr>
          <a:xfrm>
            <a:off x="4208435" y="2163470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linterna 3"/>
          <p:cNvSpPr/>
          <p:nvPr/>
        </p:nvSpPr>
        <p:spPr>
          <a:xfrm>
            <a:off x="4435206" y="2148840"/>
            <a:ext cx="182880" cy="18288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linterna 4"/>
          <p:cNvSpPr/>
          <p:nvPr/>
        </p:nvSpPr>
        <p:spPr>
          <a:xfrm>
            <a:off x="4676607" y="214884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 txBox="1"/>
          <p:nvPr/>
        </p:nvSpPr>
        <p:spPr>
          <a:xfrm>
            <a:off x="5184648" y="2011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Dato 15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19088" y="20116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Pone la O</a:t>
            </a:r>
            <a:endParaRPr lang="en-US" sz="1300" dirty="0"/>
          </a:p>
        </p:txBody>
      </p:sp>
      <p:sp>
        <p:nvSpPr>
          <p:cNvPr id="29" name="fila"/>
          <p:cNvSpPr/>
          <p:nvPr/>
        </p:nvSpPr>
        <p:spPr>
          <a:xfrm>
            <a:off x="3493008" y="2468880"/>
            <a:ext cx="5266944" cy="4572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 txBox="1"/>
          <p:nvPr/>
        </p:nvSpPr>
        <p:spPr>
          <a:xfrm>
            <a:off x="3566160" y="24688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linterna 1"/>
          <p:cNvSpPr/>
          <p:nvPr/>
        </p:nvSpPr>
        <p:spPr>
          <a:xfrm>
            <a:off x="3858768" y="260604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linterna 2"/>
          <p:cNvSpPr/>
          <p:nvPr/>
        </p:nvSpPr>
        <p:spPr>
          <a:xfrm>
            <a:off x="4208435" y="2620670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linterna 3"/>
          <p:cNvSpPr/>
          <p:nvPr/>
        </p:nvSpPr>
        <p:spPr>
          <a:xfrm>
            <a:off x="4435206" y="260604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linterna 4"/>
          <p:cNvSpPr/>
          <p:nvPr/>
        </p:nvSpPr>
        <p:spPr>
          <a:xfrm>
            <a:off x="4676607" y="2606040"/>
            <a:ext cx="182880" cy="18288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 txBox="1"/>
          <p:nvPr/>
        </p:nvSpPr>
        <p:spPr>
          <a:xfrm>
            <a:off x="5184648" y="24688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Dato 11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419088" y="24688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Pone la L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566160" y="29260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4</a:t>
            </a:r>
            <a:endParaRPr lang="en-US" sz="1200" dirty="0"/>
          </a:p>
        </p:txBody>
      </p:sp>
      <p:sp>
        <p:nvSpPr>
          <p:cNvPr id="38" name="linterna 1"/>
          <p:cNvSpPr/>
          <p:nvPr/>
        </p:nvSpPr>
        <p:spPr>
          <a:xfrm>
            <a:off x="3858768" y="306324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linterna 2"/>
          <p:cNvSpPr/>
          <p:nvPr/>
        </p:nvSpPr>
        <p:spPr>
          <a:xfrm>
            <a:off x="4193804" y="306324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linterna 3"/>
          <p:cNvSpPr/>
          <p:nvPr/>
        </p:nvSpPr>
        <p:spPr>
          <a:xfrm>
            <a:off x="4435206" y="306324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linterna 4"/>
          <p:cNvSpPr/>
          <p:nvPr/>
        </p:nvSpPr>
        <p:spPr>
          <a:xfrm>
            <a:off x="4676607" y="306324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 txBox="1"/>
          <p:nvPr/>
        </p:nvSpPr>
        <p:spPr>
          <a:xfrm>
            <a:off x="5184648" y="2926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Dato 0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419088" y="29260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Pone la A</a:t>
            </a:r>
            <a:endParaRPr lang="en-US" sz="1300" dirty="0"/>
          </a:p>
        </p:txBody>
      </p:sp>
      <p:sp>
        <p:nvSpPr>
          <p:cNvPr id="44" name="fila"/>
          <p:cNvSpPr/>
          <p:nvPr/>
        </p:nvSpPr>
        <p:spPr>
          <a:xfrm>
            <a:off x="3493008" y="3383280"/>
            <a:ext cx="5266944" cy="4572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 txBox="1"/>
          <p:nvPr/>
        </p:nvSpPr>
        <p:spPr>
          <a:xfrm>
            <a:off x="3566160" y="33832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5</a:t>
            </a:r>
            <a:endParaRPr lang="en-US" sz="1200" dirty="0"/>
          </a:p>
        </p:txBody>
      </p:sp>
      <p:sp>
        <p:nvSpPr>
          <p:cNvPr id="46" name="linterna 1"/>
          <p:cNvSpPr/>
          <p:nvPr/>
        </p:nvSpPr>
        <p:spPr>
          <a:xfrm>
            <a:off x="3873398" y="3535070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7" name="linterna 2"/>
          <p:cNvSpPr/>
          <p:nvPr/>
        </p:nvSpPr>
        <p:spPr>
          <a:xfrm>
            <a:off x="4208435" y="3535070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8" name="linterna 3"/>
          <p:cNvSpPr/>
          <p:nvPr/>
        </p:nvSpPr>
        <p:spPr>
          <a:xfrm>
            <a:off x="4449836" y="3535070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9" name="linterna 4"/>
          <p:cNvSpPr/>
          <p:nvPr/>
        </p:nvSpPr>
        <p:spPr>
          <a:xfrm>
            <a:off x="4676607" y="3520440"/>
            <a:ext cx="182880" cy="18288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 txBox="1"/>
          <p:nvPr/>
        </p:nvSpPr>
        <p:spPr>
          <a:xfrm>
            <a:off x="5184648" y="33832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PALABRA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419088" y="33832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Escribe la pila como letras: HOLA</a:t>
            </a:r>
            <a:endParaRPr lang="en-US" sz="130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2 · if / else: ¿par o impar?</a:t>
            </a:r>
            <a:endParaRPr lang="en-US" sz="3000" dirty="0"/>
          </a:p>
        </p:txBody>
      </p:sp>
      <p:sp>
        <p:nvSpPr>
          <p:cNvPr id="3" name="código C"/>
          <p:cNvSpPr/>
          <p:nvPr/>
        </p:nvSpPr>
        <p:spPr>
          <a:xfrm>
            <a:off x="457200" y="105156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0C0B1C"/>
          </a:solidFill>
          <a:ln w="12700">
            <a:solidFill>
              <a:srgbClr val="3A356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 = 7;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 % 2 != 0) 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printf("I");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printf("P");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88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SALIDA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FOTOS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30358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11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2"/>
                </a:solidFill>
              </a:rPr>
              <a:t>Si el primer destello es un 8, RESTO da 0, el SI no entra y escribe P (par).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024128"/>
            <a:ext cx="292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#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858768" y="102412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2"/>
                </a:solidFill>
              </a:rPr>
              <a:t>LINTERNAS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184648" y="1024128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2"/>
                </a:solidFill>
              </a:rPr>
              <a:t>TIPO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419088" y="1024128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2"/>
                </a:solidFill>
              </a:rPr>
              <a:t>QUÉ HACE</a:t>
            </a:r>
            <a:endParaRPr lang="en-US" sz="900" dirty="0"/>
          </a:p>
        </p:txBody>
      </p:sp>
      <p:sp>
        <p:nvSpPr>
          <p:cNvPr id="14" name="fila"/>
          <p:cNvSpPr/>
          <p:nvPr/>
        </p:nvSpPr>
        <p:spPr>
          <a:xfrm>
            <a:off x="3493008" y="1325880"/>
            <a:ext cx="5266944" cy="301752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 txBox="1"/>
          <p:nvPr/>
        </p:nvSpPr>
        <p:spPr>
          <a:xfrm>
            <a:off x="3566160" y="1325880"/>
            <a:ext cx="292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linterna 1"/>
          <p:cNvSpPr/>
          <p:nvPr/>
        </p:nvSpPr>
        <p:spPr>
          <a:xfrm>
            <a:off x="3858768" y="1385316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linterna 2"/>
          <p:cNvSpPr/>
          <p:nvPr/>
        </p:nvSpPr>
        <p:spPr>
          <a:xfrm>
            <a:off x="4193804" y="1385316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linterna 3"/>
          <p:cNvSpPr/>
          <p:nvPr/>
        </p:nvSpPr>
        <p:spPr>
          <a:xfrm>
            <a:off x="4435206" y="1385316"/>
            <a:ext cx="182880" cy="18288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linterna 4"/>
          <p:cNvSpPr/>
          <p:nvPr/>
        </p:nvSpPr>
        <p:spPr>
          <a:xfrm>
            <a:off x="4691238" y="1399946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 txBox="1"/>
          <p:nvPr/>
        </p:nvSpPr>
        <p:spPr>
          <a:xfrm>
            <a:off x="5184648" y="1325880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Dato 7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1325880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int n = 7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1627632"/>
            <a:ext cx="292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2</a:t>
            </a:r>
            <a:endParaRPr lang="en-US" sz="1100" dirty="0"/>
          </a:p>
        </p:txBody>
      </p:sp>
      <p:sp>
        <p:nvSpPr>
          <p:cNvPr id="23" name="linterna 1"/>
          <p:cNvSpPr/>
          <p:nvPr/>
        </p:nvSpPr>
        <p:spPr>
          <a:xfrm>
            <a:off x="3858768" y="1687068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linterna 2"/>
          <p:cNvSpPr/>
          <p:nvPr/>
        </p:nvSpPr>
        <p:spPr>
          <a:xfrm>
            <a:off x="4193804" y="1687068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linterna 3"/>
          <p:cNvSpPr/>
          <p:nvPr/>
        </p:nvSpPr>
        <p:spPr>
          <a:xfrm>
            <a:off x="4435206" y="1687068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linterna 4"/>
          <p:cNvSpPr/>
          <p:nvPr/>
        </p:nvSpPr>
        <p:spPr>
          <a:xfrm>
            <a:off x="4676607" y="1687068"/>
            <a:ext cx="182880" cy="18288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 txBox="1"/>
          <p:nvPr/>
        </p:nvSpPr>
        <p:spPr>
          <a:xfrm>
            <a:off x="5184648" y="1627632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Dato 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19088" y="1627632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El divisor</a:t>
            </a:r>
            <a:endParaRPr lang="en-US" sz="1200" dirty="0"/>
          </a:p>
        </p:txBody>
      </p:sp>
      <p:sp>
        <p:nvSpPr>
          <p:cNvPr id="29" name="fila"/>
          <p:cNvSpPr/>
          <p:nvPr/>
        </p:nvSpPr>
        <p:spPr>
          <a:xfrm>
            <a:off x="3493008" y="1929384"/>
            <a:ext cx="5266944" cy="301752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 txBox="1"/>
          <p:nvPr/>
        </p:nvSpPr>
        <p:spPr>
          <a:xfrm>
            <a:off x="3566160" y="1929384"/>
            <a:ext cx="292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linterna 1"/>
          <p:cNvSpPr/>
          <p:nvPr/>
        </p:nvSpPr>
        <p:spPr>
          <a:xfrm>
            <a:off x="3873398" y="2003450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linterna 2"/>
          <p:cNvSpPr/>
          <p:nvPr/>
        </p:nvSpPr>
        <p:spPr>
          <a:xfrm>
            <a:off x="4193804" y="198882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linterna 3"/>
          <p:cNvSpPr/>
          <p:nvPr/>
        </p:nvSpPr>
        <p:spPr>
          <a:xfrm>
            <a:off x="4435206" y="1988820"/>
            <a:ext cx="182880" cy="18288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linterna 4"/>
          <p:cNvSpPr/>
          <p:nvPr/>
        </p:nvSpPr>
        <p:spPr>
          <a:xfrm>
            <a:off x="4676607" y="198882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 txBox="1"/>
          <p:nvPr/>
        </p:nvSpPr>
        <p:spPr>
          <a:xfrm>
            <a:off x="5184648" y="1929384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RESTO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19088" y="1929384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7 % 2 = 1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3566160" y="2231136"/>
            <a:ext cx="292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4</a:t>
            </a:r>
            <a:endParaRPr lang="en-US" sz="1100" dirty="0"/>
          </a:p>
        </p:txBody>
      </p:sp>
      <p:sp>
        <p:nvSpPr>
          <p:cNvPr id="38" name="linterna 1"/>
          <p:cNvSpPr/>
          <p:nvPr/>
        </p:nvSpPr>
        <p:spPr>
          <a:xfrm>
            <a:off x="3858768" y="2290572"/>
            <a:ext cx="182880" cy="18288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linterna 2"/>
          <p:cNvSpPr/>
          <p:nvPr/>
        </p:nvSpPr>
        <p:spPr>
          <a:xfrm>
            <a:off x="4193804" y="2290572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linterna 3"/>
          <p:cNvSpPr/>
          <p:nvPr/>
        </p:nvSpPr>
        <p:spPr>
          <a:xfrm>
            <a:off x="4435206" y="2290572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linterna 4"/>
          <p:cNvSpPr/>
          <p:nvPr/>
        </p:nvSpPr>
        <p:spPr>
          <a:xfrm>
            <a:off x="4676607" y="2290572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 txBox="1"/>
          <p:nvPr/>
        </p:nvSpPr>
        <p:spPr>
          <a:xfrm>
            <a:off x="5184648" y="2231136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SI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419088" y="223113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if: 1 no es 0, entra</a:t>
            </a:r>
            <a:endParaRPr lang="en-US" sz="1200" dirty="0"/>
          </a:p>
        </p:txBody>
      </p:sp>
      <p:sp>
        <p:nvSpPr>
          <p:cNvPr id="44" name="fila"/>
          <p:cNvSpPr/>
          <p:nvPr/>
        </p:nvSpPr>
        <p:spPr>
          <a:xfrm>
            <a:off x="3493008" y="2532888"/>
            <a:ext cx="5266944" cy="301752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 txBox="1"/>
          <p:nvPr/>
        </p:nvSpPr>
        <p:spPr>
          <a:xfrm>
            <a:off x="3566160" y="2532888"/>
            <a:ext cx="292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5</a:t>
            </a:r>
            <a:endParaRPr lang="en-US" sz="1100" dirty="0"/>
          </a:p>
        </p:txBody>
      </p:sp>
      <p:sp>
        <p:nvSpPr>
          <p:cNvPr id="46" name="linterna 1"/>
          <p:cNvSpPr/>
          <p:nvPr/>
        </p:nvSpPr>
        <p:spPr>
          <a:xfrm>
            <a:off x="3858768" y="2592324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7" name="linterna 2"/>
          <p:cNvSpPr/>
          <p:nvPr/>
        </p:nvSpPr>
        <p:spPr>
          <a:xfrm>
            <a:off x="4193804" y="2592324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8" name="linterna 3"/>
          <p:cNvSpPr/>
          <p:nvPr/>
        </p:nvSpPr>
        <p:spPr>
          <a:xfrm>
            <a:off x="4435206" y="2592324"/>
            <a:ext cx="182880" cy="18288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9" name="linterna 4"/>
          <p:cNvSpPr/>
          <p:nvPr/>
        </p:nvSpPr>
        <p:spPr>
          <a:xfrm>
            <a:off x="4676607" y="2592324"/>
            <a:ext cx="182880" cy="18288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 txBox="1"/>
          <p:nvPr/>
        </p:nvSpPr>
        <p:spPr>
          <a:xfrm>
            <a:off x="5184648" y="2532888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Dato 8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419088" y="2532888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La letra I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3566160" y="2834640"/>
            <a:ext cx="292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6</a:t>
            </a:r>
            <a:endParaRPr lang="en-US" sz="1100" dirty="0"/>
          </a:p>
        </p:txBody>
      </p:sp>
      <p:sp>
        <p:nvSpPr>
          <p:cNvPr id="53" name="linterna 1"/>
          <p:cNvSpPr/>
          <p:nvPr/>
        </p:nvSpPr>
        <p:spPr>
          <a:xfrm>
            <a:off x="3873398" y="2908706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4" name="linterna 2"/>
          <p:cNvSpPr/>
          <p:nvPr/>
        </p:nvSpPr>
        <p:spPr>
          <a:xfrm>
            <a:off x="4208435" y="2908706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5" name="linterna 3"/>
          <p:cNvSpPr/>
          <p:nvPr/>
        </p:nvSpPr>
        <p:spPr>
          <a:xfrm>
            <a:off x="4449836" y="2908706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6" name="linterna 4"/>
          <p:cNvSpPr/>
          <p:nvPr/>
        </p:nvSpPr>
        <p:spPr>
          <a:xfrm>
            <a:off x="4691238" y="2908706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 txBox="1"/>
          <p:nvPr/>
        </p:nvSpPr>
        <p:spPr>
          <a:xfrm>
            <a:off x="5184648" y="2834640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LETRA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6419088" y="2834640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Escribe I</a:t>
            </a:r>
            <a:endParaRPr lang="en-US" sz="1200" dirty="0"/>
          </a:p>
        </p:txBody>
      </p:sp>
      <p:sp>
        <p:nvSpPr>
          <p:cNvPr id="59" name="fila"/>
          <p:cNvSpPr/>
          <p:nvPr/>
        </p:nvSpPr>
        <p:spPr>
          <a:xfrm>
            <a:off x="3493008" y="3136392"/>
            <a:ext cx="5266944" cy="301752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0" name="Text 58"/>
          <p:cNvSpPr txBox="1"/>
          <p:nvPr/>
        </p:nvSpPr>
        <p:spPr>
          <a:xfrm>
            <a:off x="3566160" y="3136392"/>
            <a:ext cx="292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7</a:t>
            </a:r>
            <a:endParaRPr lang="en-US" sz="1100" dirty="0"/>
          </a:p>
        </p:txBody>
      </p:sp>
      <p:sp>
        <p:nvSpPr>
          <p:cNvPr id="61" name="linterna 1"/>
          <p:cNvSpPr/>
          <p:nvPr/>
        </p:nvSpPr>
        <p:spPr>
          <a:xfrm>
            <a:off x="3858768" y="3195828"/>
            <a:ext cx="182880" cy="18288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2" name="linterna 2"/>
          <p:cNvSpPr/>
          <p:nvPr/>
        </p:nvSpPr>
        <p:spPr>
          <a:xfrm>
            <a:off x="4208435" y="3210458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3" name="linterna 3"/>
          <p:cNvSpPr/>
          <p:nvPr/>
        </p:nvSpPr>
        <p:spPr>
          <a:xfrm>
            <a:off x="4449836" y="3210458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4" name="linterna 4"/>
          <p:cNvSpPr/>
          <p:nvPr/>
        </p:nvSpPr>
        <p:spPr>
          <a:xfrm>
            <a:off x="4691238" y="3210458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5" name="Text 63"/>
          <p:cNvSpPr txBox="1"/>
          <p:nvPr/>
        </p:nvSpPr>
        <p:spPr>
          <a:xfrm>
            <a:off x="5184648" y="3136392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SI NO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6419088" y="3136392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else: se lo salta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3566160" y="3438144"/>
            <a:ext cx="292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8</a:t>
            </a:r>
            <a:endParaRPr lang="en-US" sz="1100" dirty="0"/>
          </a:p>
        </p:txBody>
      </p:sp>
      <p:sp>
        <p:nvSpPr>
          <p:cNvPr id="68" name="linterna 1"/>
          <p:cNvSpPr/>
          <p:nvPr/>
        </p:nvSpPr>
        <p:spPr>
          <a:xfrm>
            <a:off x="3858768" y="349758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9" name="linterna 2"/>
          <p:cNvSpPr/>
          <p:nvPr/>
        </p:nvSpPr>
        <p:spPr>
          <a:xfrm>
            <a:off x="4208435" y="3512210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0" name="linterna 3"/>
          <p:cNvSpPr/>
          <p:nvPr/>
        </p:nvSpPr>
        <p:spPr>
          <a:xfrm>
            <a:off x="4435206" y="3497580"/>
            <a:ext cx="182880" cy="18288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1" name="linterna 4"/>
          <p:cNvSpPr/>
          <p:nvPr/>
        </p:nvSpPr>
        <p:spPr>
          <a:xfrm>
            <a:off x="4691238" y="3512210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2" name="Text 70"/>
          <p:cNvSpPr txBox="1"/>
          <p:nvPr/>
        </p:nvSpPr>
        <p:spPr>
          <a:xfrm>
            <a:off x="5184648" y="3438144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Dato 16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6419088" y="3438144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La letra P</a:t>
            </a:r>
            <a:endParaRPr lang="en-US" sz="1200" dirty="0"/>
          </a:p>
        </p:txBody>
      </p:sp>
      <p:sp>
        <p:nvSpPr>
          <p:cNvPr id="74" name="fila"/>
          <p:cNvSpPr/>
          <p:nvPr/>
        </p:nvSpPr>
        <p:spPr>
          <a:xfrm>
            <a:off x="3493008" y="3739896"/>
            <a:ext cx="5266944" cy="301752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5" name="Text 73"/>
          <p:cNvSpPr txBox="1"/>
          <p:nvPr/>
        </p:nvSpPr>
        <p:spPr>
          <a:xfrm>
            <a:off x="3566160" y="3739896"/>
            <a:ext cx="292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9</a:t>
            </a:r>
            <a:endParaRPr lang="en-US" sz="1100" dirty="0"/>
          </a:p>
        </p:txBody>
      </p:sp>
      <p:sp>
        <p:nvSpPr>
          <p:cNvPr id="76" name="linterna 1"/>
          <p:cNvSpPr/>
          <p:nvPr/>
        </p:nvSpPr>
        <p:spPr>
          <a:xfrm>
            <a:off x="3873398" y="3813962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7" name="linterna 2"/>
          <p:cNvSpPr/>
          <p:nvPr/>
        </p:nvSpPr>
        <p:spPr>
          <a:xfrm>
            <a:off x="4208435" y="3813962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8" name="linterna 3"/>
          <p:cNvSpPr/>
          <p:nvPr/>
        </p:nvSpPr>
        <p:spPr>
          <a:xfrm>
            <a:off x="4449836" y="3813962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9" name="linterna 4"/>
          <p:cNvSpPr/>
          <p:nvPr/>
        </p:nvSpPr>
        <p:spPr>
          <a:xfrm>
            <a:off x="4691238" y="3813962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0" name="Text 78"/>
          <p:cNvSpPr txBox="1"/>
          <p:nvPr/>
        </p:nvSpPr>
        <p:spPr>
          <a:xfrm>
            <a:off x="5184648" y="3739896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LETRA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6419088" y="373989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Escribe P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3566160" y="4041648"/>
            <a:ext cx="292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10</a:t>
            </a:r>
            <a:endParaRPr lang="en-US" sz="1100" dirty="0"/>
          </a:p>
        </p:txBody>
      </p:sp>
      <p:sp>
        <p:nvSpPr>
          <p:cNvPr id="83" name="linterna 1"/>
          <p:cNvSpPr/>
          <p:nvPr/>
        </p:nvSpPr>
        <p:spPr>
          <a:xfrm>
            <a:off x="3858768" y="4101084"/>
            <a:ext cx="182880" cy="18288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4" name="linterna 2"/>
          <p:cNvSpPr/>
          <p:nvPr/>
        </p:nvSpPr>
        <p:spPr>
          <a:xfrm>
            <a:off x="4193804" y="4101084"/>
            <a:ext cx="182880" cy="18288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5" name="linterna 3"/>
          <p:cNvSpPr/>
          <p:nvPr/>
        </p:nvSpPr>
        <p:spPr>
          <a:xfrm>
            <a:off x="4435206" y="4101084"/>
            <a:ext cx="182880" cy="18288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6" name="linterna 4"/>
          <p:cNvSpPr/>
          <p:nvPr/>
        </p:nvSpPr>
        <p:spPr>
          <a:xfrm>
            <a:off x="4676607" y="4101084"/>
            <a:ext cx="182880" cy="18288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7" name="Text 85"/>
          <p:cNvSpPr txBox="1"/>
          <p:nvPr/>
        </p:nvSpPr>
        <p:spPr>
          <a:xfrm>
            <a:off x="5184648" y="4041648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FIN SI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6419088" y="4041648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Cierra la llave }</a:t>
            </a:r>
            <a:endParaRPr lang="en-US" sz="1200" dirty="0"/>
          </a:p>
        </p:txBody>
      </p:sp>
      <p:sp>
        <p:nvSpPr>
          <p:cNvPr id="8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3 · Bucle while: cuenta atrás</a:t>
            </a:r>
            <a:endParaRPr lang="en-US" sz="3000" dirty="0"/>
          </a:p>
        </p:txBody>
      </p:sp>
      <p:sp>
        <p:nvSpPr>
          <p:cNvPr id="3" name="código C"/>
          <p:cNvSpPr/>
          <p:nvPr/>
        </p:nvSpPr>
        <p:spPr>
          <a:xfrm>
            <a:off x="457200" y="10972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C0B1C"/>
          </a:solidFill>
          <a:ln w="12700">
            <a:solidFill>
              <a:srgbClr val="3A356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 = 3;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(n != 0) 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 ", n);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n - 1;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517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SALIDA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986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3 2 1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2651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FOTOS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28986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520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2"/>
                </a:solidFill>
              </a:rPr>
              <a:t>Las fotos son el código, no la ejecución: el bucle da 3 vueltas, pero solo se fotografían 6 destellos.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097280"/>
            <a:ext cx="292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#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858768" y="1097280"/>
            <a:ext cx="1325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2"/>
                </a:solidFill>
              </a:rPr>
              <a:t>LINTERNAS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184648" y="1097280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2"/>
                </a:solidFill>
              </a:rPr>
              <a:t>TIPO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419088" y="1097280"/>
            <a:ext cx="2267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2"/>
                </a:solidFill>
              </a:rPr>
              <a:t>QUÉ HACE</a:t>
            </a:r>
            <a:endParaRPr lang="en-US" sz="900" dirty="0"/>
          </a:p>
        </p:txBody>
      </p:sp>
      <p:sp>
        <p:nvSpPr>
          <p:cNvPr id="14" name="fila"/>
          <p:cNvSpPr/>
          <p:nvPr/>
        </p:nvSpPr>
        <p:spPr>
          <a:xfrm>
            <a:off x="3493008" y="1527048"/>
            <a:ext cx="5266944" cy="429768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 txBox="1"/>
          <p:nvPr/>
        </p:nvSpPr>
        <p:spPr>
          <a:xfrm>
            <a:off x="3566160" y="1527048"/>
            <a:ext cx="292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linterna 1"/>
          <p:cNvSpPr/>
          <p:nvPr/>
        </p:nvSpPr>
        <p:spPr>
          <a:xfrm>
            <a:off x="3858768" y="1650492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linterna 2"/>
          <p:cNvSpPr/>
          <p:nvPr/>
        </p:nvSpPr>
        <p:spPr>
          <a:xfrm>
            <a:off x="4193804" y="1650492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linterna 3"/>
          <p:cNvSpPr/>
          <p:nvPr/>
        </p:nvSpPr>
        <p:spPr>
          <a:xfrm>
            <a:off x="4449836" y="1665122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linterna 4"/>
          <p:cNvSpPr/>
          <p:nvPr/>
        </p:nvSpPr>
        <p:spPr>
          <a:xfrm>
            <a:off x="4676607" y="1650492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 txBox="1"/>
          <p:nvPr/>
        </p:nvSpPr>
        <p:spPr>
          <a:xfrm>
            <a:off x="5184648" y="1527048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Dato 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1527048"/>
            <a:ext cx="2267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int n = 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1956816"/>
            <a:ext cx="292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linterna 1"/>
          <p:cNvSpPr/>
          <p:nvPr/>
        </p:nvSpPr>
        <p:spPr>
          <a:xfrm>
            <a:off x="3858768" y="2080260"/>
            <a:ext cx="182880" cy="18288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linterna 2"/>
          <p:cNvSpPr/>
          <p:nvPr/>
        </p:nvSpPr>
        <p:spPr>
          <a:xfrm>
            <a:off x="4193804" y="208026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linterna 3"/>
          <p:cNvSpPr/>
          <p:nvPr/>
        </p:nvSpPr>
        <p:spPr>
          <a:xfrm>
            <a:off x="4449836" y="2094890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linterna 4"/>
          <p:cNvSpPr/>
          <p:nvPr/>
        </p:nvSpPr>
        <p:spPr>
          <a:xfrm>
            <a:off x="4676607" y="2080260"/>
            <a:ext cx="182880" cy="18288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 txBox="1"/>
          <p:nvPr/>
        </p:nvSpPr>
        <p:spPr>
          <a:xfrm>
            <a:off x="5184648" y="1956816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MIENTRAS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19088" y="1956816"/>
            <a:ext cx="2267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while (n != 0)</a:t>
            </a:r>
            <a:endParaRPr lang="en-US" sz="1300" dirty="0"/>
          </a:p>
        </p:txBody>
      </p:sp>
      <p:sp>
        <p:nvSpPr>
          <p:cNvPr id="29" name="fila"/>
          <p:cNvSpPr/>
          <p:nvPr/>
        </p:nvSpPr>
        <p:spPr>
          <a:xfrm>
            <a:off x="3493008" y="2386584"/>
            <a:ext cx="5266944" cy="429768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 txBox="1"/>
          <p:nvPr/>
        </p:nvSpPr>
        <p:spPr>
          <a:xfrm>
            <a:off x="3566160" y="2386584"/>
            <a:ext cx="292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linterna 1"/>
          <p:cNvSpPr/>
          <p:nvPr/>
        </p:nvSpPr>
        <p:spPr>
          <a:xfrm>
            <a:off x="3873398" y="2524658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linterna 2"/>
          <p:cNvSpPr/>
          <p:nvPr/>
        </p:nvSpPr>
        <p:spPr>
          <a:xfrm>
            <a:off x="4193804" y="2510028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linterna 3"/>
          <p:cNvSpPr/>
          <p:nvPr/>
        </p:nvSpPr>
        <p:spPr>
          <a:xfrm>
            <a:off x="4435206" y="2510028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linterna 4"/>
          <p:cNvSpPr/>
          <p:nvPr/>
        </p:nvSpPr>
        <p:spPr>
          <a:xfrm>
            <a:off x="4676607" y="2510028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 txBox="1"/>
          <p:nvPr/>
        </p:nvSpPr>
        <p:spPr>
          <a:xfrm>
            <a:off x="5184648" y="2386584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IMPRIMIR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419088" y="2386584"/>
            <a:ext cx="2267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Escribe n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566160" y="2816352"/>
            <a:ext cx="292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4</a:t>
            </a:r>
            <a:endParaRPr lang="en-US" sz="1200" dirty="0"/>
          </a:p>
        </p:txBody>
      </p:sp>
      <p:sp>
        <p:nvSpPr>
          <p:cNvPr id="38" name="linterna 1"/>
          <p:cNvSpPr/>
          <p:nvPr/>
        </p:nvSpPr>
        <p:spPr>
          <a:xfrm>
            <a:off x="3858768" y="2939796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linterna 2"/>
          <p:cNvSpPr/>
          <p:nvPr/>
        </p:nvSpPr>
        <p:spPr>
          <a:xfrm>
            <a:off x="4193804" y="2939796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linterna 3"/>
          <p:cNvSpPr/>
          <p:nvPr/>
        </p:nvSpPr>
        <p:spPr>
          <a:xfrm>
            <a:off x="4435206" y="2939796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linterna 4"/>
          <p:cNvSpPr/>
          <p:nvPr/>
        </p:nvSpPr>
        <p:spPr>
          <a:xfrm>
            <a:off x="4691238" y="2954426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 txBox="1"/>
          <p:nvPr/>
        </p:nvSpPr>
        <p:spPr>
          <a:xfrm>
            <a:off x="5184648" y="2816352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Dato 1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419088" y="2816352"/>
            <a:ext cx="2267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Lo que vamos a restar</a:t>
            </a:r>
            <a:endParaRPr lang="en-US" sz="1300" dirty="0"/>
          </a:p>
        </p:txBody>
      </p:sp>
      <p:sp>
        <p:nvSpPr>
          <p:cNvPr id="44" name="fila"/>
          <p:cNvSpPr/>
          <p:nvPr/>
        </p:nvSpPr>
        <p:spPr>
          <a:xfrm>
            <a:off x="3493008" y="3246120"/>
            <a:ext cx="5266944" cy="429768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 txBox="1"/>
          <p:nvPr/>
        </p:nvSpPr>
        <p:spPr>
          <a:xfrm>
            <a:off x="3566160" y="3246120"/>
            <a:ext cx="292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5</a:t>
            </a:r>
            <a:endParaRPr lang="en-US" sz="1200" dirty="0"/>
          </a:p>
        </p:txBody>
      </p:sp>
      <p:sp>
        <p:nvSpPr>
          <p:cNvPr id="46" name="linterna 1"/>
          <p:cNvSpPr/>
          <p:nvPr/>
        </p:nvSpPr>
        <p:spPr>
          <a:xfrm>
            <a:off x="3873398" y="3384194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7" name="linterna 2"/>
          <p:cNvSpPr/>
          <p:nvPr/>
        </p:nvSpPr>
        <p:spPr>
          <a:xfrm>
            <a:off x="4193804" y="3369564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8" name="linterna 3"/>
          <p:cNvSpPr/>
          <p:nvPr/>
        </p:nvSpPr>
        <p:spPr>
          <a:xfrm>
            <a:off x="4435206" y="3369564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9" name="linterna 4"/>
          <p:cNvSpPr/>
          <p:nvPr/>
        </p:nvSpPr>
        <p:spPr>
          <a:xfrm>
            <a:off x="4676607" y="3369564"/>
            <a:ext cx="182880" cy="18288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 txBox="1"/>
          <p:nvPr/>
        </p:nvSpPr>
        <p:spPr>
          <a:xfrm>
            <a:off x="5184648" y="3246120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RESTAR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419088" y="3246120"/>
            <a:ext cx="2267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n = n − 1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3566160" y="3675888"/>
            <a:ext cx="292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6</a:t>
            </a:r>
            <a:endParaRPr lang="en-US" sz="1200" dirty="0"/>
          </a:p>
        </p:txBody>
      </p:sp>
      <p:sp>
        <p:nvSpPr>
          <p:cNvPr id="53" name="linterna 1"/>
          <p:cNvSpPr/>
          <p:nvPr/>
        </p:nvSpPr>
        <p:spPr>
          <a:xfrm>
            <a:off x="3858768" y="3799332"/>
            <a:ext cx="182880" cy="18288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4" name="linterna 2"/>
          <p:cNvSpPr/>
          <p:nvPr/>
        </p:nvSpPr>
        <p:spPr>
          <a:xfrm>
            <a:off x="4193804" y="3799332"/>
            <a:ext cx="182880" cy="182880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5" name="linterna 3"/>
          <p:cNvSpPr/>
          <p:nvPr/>
        </p:nvSpPr>
        <p:spPr>
          <a:xfrm>
            <a:off x="4449836" y="3813962"/>
            <a:ext cx="153619" cy="153619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6" name="linterna 4"/>
          <p:cNvSpPr/>
          <p:nvPr/>
        </p:nvSpPr>
        <p:spPr>
          <a:xfrm>
            <a:off x="4676607" y="3799332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 txBox="1"/>
          <p:nvPr/>
        </p:nvSpPr>
        <p:spPr>
          <a:xfrm>
            <a:off x="5184648" y="3675888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FIN MIENTRAS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6419088" y="3675888"/>
            <a:ext cx="2267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Vuelve al MIENTRAS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3566160" y="4206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MIENTRAS (rojo-verde-azul) se cierra al revés: azul-verde-rojo.</a:t>
            </a:r>
            <a:endParaRPr lang="en-US" sz="1100" dirty="0"/>
          </a:p>
        </p:txBody>
      </p:sp>
      <p:sp>
        <p:nvSpPr>
          <p:cNvPr id="6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Conclusión: Destello de </a:t>
            </a:r>
            <a:r>
              <a:rPr lang="en-US" sz="3000" b="1" dirty="0" err="1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bolsillo</a:t>
            </a:r>
            <a: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b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</a:br>
            <a: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 </a:t>
            </a:r>
            <a:r>
              <a:rPr lang="en-US" sz="3000" b="1" dirty="0" err="1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tecnologí</a:t>
            </a:r>
            <a:r>
              <a:rPr lang="en-US" dirty="0" err="1"/>
              <a:t>a</a:t>
            </a:r>
            <a:r>
              <a:rPr lang="en-US" dirty="0"/>
              <a:t> </a:t>
            </a:r>
            <a:r>
              <a:rPr lang="en-US" dirty="0" err="1"/>
              <a:t>integrada</a:t>
            </a:r>
            <a:endParaRPr lang="en-US" sz="3000" dirty="0"/>
          </a:p>
        </p:txBody>
      </p:sp>
      <p:sp>
        <p:nvSpPr>
          <p:cNvPr id="3" name="dispositivo"/>
          <p:cNvSpPr/>
          <p:nvPr/>
        </p:nvSpPr>
        <p:spPr>
          <a:xfrm>
            <a:off x="548640" y="1234440"/>
            <a:ext cx="3291840" cy="274320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9050">
            <a:solidFill>
              <a:srgbClr val="3A356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brillo"/>
          <p:cNvSpPr/>
          <p:nvPr/>
        </p:nvSpPr>
        <p:spPr>
          <a:xfrm>
            <a:off x="795528" y="1481328"/>
            <a:ext cx="548640" cy="548640"/>
          </a:xfrm>
          <a:prstGeom prst="ellipse">
            <a:avLst/>
          </a:prstGeom>
          <a:solidFill>
            <a:schemeClr val="accent3">
              <a:alpha val="25000"/>
            </a:scheme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LED 1"/>
          <p:cNvSpPr/>
          <p:nvPr/>
        </p:nvSpPr>
        <p:spPr>
          <a:xfrm>
            <a:off x="914400" y="1600200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botón"/>
          <p:cNvSpPr/>
          <p:nvPr/>
        </p:nvSpPr>
        <p:spPr>
          <a:xfrm>
            <a:off x="886968" y="2286000"/>
            <a:ext cx="365760" cy="201168"/>
          </a:xfrm>
          <a:prstGeom prst="roundRect">
            <a:avLst>
              <a:gd name="adj" fmla="val 2272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botón"/>
          <p:cNvSpPr/>
          <p:nvPr/>
        </p:nvSpPr>
        <p:spPr>
          <a:xfrm>
            <a:off x="886968" y="2560320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3A35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botón"/>
          <p:cNvSpPr/>
          <p:nvPr/>
        </p:nvSpPr>
        <p:spPr>
          <a:xfrm>
            <a:off x="886968" y="2834640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3A35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brillo"/>
          <p:cNvSpPr/>
          <p:nvPr/>
        </p:nvSpPr>
        <p:spPr>
          <a:xfrm>
            <a:off x="1527048" y="1481328"/>
            <a:ext cx="548640" cy="548640"/>
          </a:xfrm>
          <a:prstGeom prst="ellipse">
            <a:avLst/>
          </a:prstGeom>
          <a:solidFill>
            <a:schemeClr val="accent4">
              <a:alpha val="25000"/>
            </a:scheme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LED 2"/>
          <p:cNvSpPr/>
          <p:nvPr/>
        </p:nvSpPr>
        <p:spPr>
          <a:xfrm>
            <a:off x="1670792" y="1625072"/>
            <a:ext cx="261153" cy="261153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botón"/>
          <p:cNvSpPr/>
          <p:nvPr/>
        </p:nvSpPr>
        <p:spPr>
          <a:xfrm>
            <a:off x="1618488" y="2286000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3A35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botón"/>
          <p:cNvSpPr/>
          <p:nvPr/>
        </p:nvSpPr>
        <p:spPr>
          <a:xfrm>
            <a:off x="1618488" y="2560320"/>
            <a:ext cx="365760" cy="201168"/>
          </a:xfrm>
          <a:prstGeom prst="roundRect">
            <a:avLst>
              <a:gd name="adj" fmla="val 22727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botón"/>
          <p:cNvSpPr/>
          <p:nvPr/>
        </p:nvSpPr>
        <p:spPr>
          <a:xfrm>
            <a:off x="1618488" y="2834640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3A35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brillo"/>
          <p:cNvSpPr/>
          <p:nvPr/>
        </p:nvSpPr>
        <p:spPr>
          <a:xfrm>
            <a:off x="2258568" y="1481328"/>
            <a:ext cx="548640" cy="548640"/>
          </a:xfrm>
          <a:prstGeom prst="ellipse">
            <a:avLst/>
          </a:prstGeom>
          <a:solidFill>
            <a:schemeClr val="accent5">
              <a:alpha val="25000"/>
            </a:scheme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LED 3"/>
          <p:cNvSpPr/>
          <p:nvPr/>
        </p:nvSpPr>
        <p:spPr>
          <a:xfrm>
            <a:off x="2377440" y="1600200"/>
            <a:ext cx="310896" cy="310896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botón"/>
          <p:cNvSpPr/>
          <p:nvPr/>
        </p:nvSpPr>
        <p:spPr>
          <a:xfrm>
            <a:off x="2350008" y="2286000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3A35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botón"/>
          <p:cNvSpPr/>
          <p:nvPr/>
        </p:nvSpPr>
        <p:spPr>
          <a:xfrm>
            <a:off x="2350008" y="2560320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3A35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botón"/>
          <p:cNvSpPr/>
          <p:nvPr/>
        </p:nvSpPr>
        <p:spPr>
          <a:xfrm>
            <a:off x="2350008" y="2834640"/>
            <a:ext cx="365760" cy="201168"/>
          </a:xfrm>
          <a:prstGeom prst="roundRect">
            <a:avLst>
              <a:gd name="adj" fmla="val 22727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brillo"/>
          <p:cNvSpPr/>
          <p:nvPr/>
        </p:nvSpPr>
        <p:spPr>
          <a:xfrm>
            <a:off x="2990088" y="1481328"/>
            <a:ext cx="548640" cy="548640"/>
          </a:xfrm>
          <a:prstGeom prst="ellipse">
            <a:avLst/>
          </a:prstGeom>
          <a:solidFill>
            <a:schemeClr val="accent3">
              <a:alpha val="25000"/>
            </a:scheme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LED 4"/>
          <p:cNvSpPr/>
          <p:nvPr/>
        </p:nvSpPr>
        <p:spPr>
          <a:xfrm>
            <a:off x="3108960" y="1600200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botón"/>
          <p:cNvSpPr/>
          <p:nvPr/>
        </p:nvSpPr>
        <p:spPr>
          <a:xfrm>
            <a:off x="3081528" y="2286000"/>
            <a:ext cx="365760" cy="201168"/>
          </a:xfrm>
          <a:prstGeom prst="roundRect">
            <a:avLst>
              <a:gd name="adj" fmla="val 2272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botón"/>
          <p:cNvSpPr/>
          <p:nvPr/>
        </p:nvSpPr>
        <p:spPr>
          <a:xfrm>
            <a:off x="3081528" y="2560320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3A35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botón"/>
          <p:cNvSpPr/>
          <p:nvPr/>
        </p:nvSpPr>
        <p:spPr>
          <a:xfrm>
            <a:off x="3081528" y="2834640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3A35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botón de disparo"/>
          <p:cNvSpPr/>
          <p:nvPr/>
        </p:nvSpPr>
        <p:spPr>
          <a:xfrm>
            <a:off x="1783080" y="32461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 txBox="1"/>
          <p:nvPr/>
        </p:nvSpPr>
        <p:spPr>
          <a:xfrm>
            <a:off x="2377440" y="3383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disparo</a:t>
            </a:r>
            <a:endParaRPr lang="en-US" sz="1100" dirty="0"/>
          </a:p>
        </p:txBody>
      </p:sp>
      <p:sp>
        <p:nvSpPr>
          <p:cNvPr id="26" name="figura"/>
          <p:cNvSpPr/>
          <p:nvPr/>
        </p:nvSpPr>
        <p:spPr>
          <a:xfrm>
            <a:off x="4251960" y="1234440"/>
            <a:ext cx="219456" cy="219456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 txBox="1"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</a:rPr>
              <a:t>Un </a:t>
            </a:r>
            <a:r>
              <a:rPr lang="en-US" sz="1400" b="1" dirty="0" err="1">
                <a:solidFill>
                  <a:schemeClr val="bg2"/>
                </a:solidFill>
              </a:rPr>
              <a:t>dispositivo</a:t>
            </a:r>
            <a:r>
              <a:rPr lang="en-US" sz="1400" b="1" dirty="0">
                <a:solidFill>
                  <a:schemeClr val="bg2"/>
                </a:solidFill>
              </a:rPr>
              <a:t> </a:t>
            </a:r>
            <a:r>
              <a:rPr lang="en-US" sz="1400" b="1" dirty="0" err="1">
                <a:solidFill>
                  <a:schemeClr val="bg2"/>
                </a:solidFill>
              </a:rPr>
              <a:t>compacto</a:t>
            </a:r>
            <a:r>
              <a:rPr lang="en-US" sz="1400" b="1" dirty="0">
                <a:solidFill>
                  <a:schemeClr val="bg2"/>
                </a:solidFill>
              </a:rPr>
              <a:t> con 4 LEDs RGB </a:t>
            </a:r>
            <a:r>
              <a:rPr lang="en-US" sz="1400" b="1" dirty="0" err="1">
                <a:solidFill>
                  <a:schemeClr val="bg2"/>
                </a:solidFill>
              </a:rPr>
              <a:t>en</a:t>
            </a:r>
            <a:r>
              <a:rPr lang="en-US" sz="1400" b="1" dirty="0">
                <a:solidFill>
                  <a:schemeClr val="bg2"/>
                </a:solidFill>
              </a:rPr>
              <a:t> fila: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15361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                 con </a:t>
            </a:r>
            <a:r>
              <a:rPr lang="en-US" sz="1200" dirty="0" err="1">
                <a:solidFill>
                  <a:schemeClr val="accent2"/>
                </a:solidFill>
              </a:rPr>
              <a:t>cada</a:t>
            </a:r>
            <a:r>
              <a:rPr lang="en-US" sz="1200" dirty="0">
                <a:solidFill>
                  <a:schemeClr val="accent2"/>
                </a:solidFill>
              </a:rPr>
              <a:t> LED se </a:t>
            </a:r>
            <a:r>
              <a:rPr lang="en-US" sz="1200" dirty="0" err="1">
                <a:solidFill>
                  <a:schemeClr val="accent2"/>
                </a:solidFill>
              </a:rPr>
              <a:t>podrá</a:t>
            </a:r>
            <a:r>
              <a:rPr lang="en-US" sz="1200" dirty="0">
                <a:solidFill>
                  <a:schemeClr val="accent2"/>
                </a:solidFill>
              </a:rPr>
              <a:t> </a:t>
            </a:r>
            <a:r>
              <a:rPr lang="en-US" sz="1200" dirty="0" err="1">
                <a:solidFill>
                  <a:schemeClr val="accent2"/>
                </a:solidFill>
              </a:rPr>
              <a:t>ir</a:t>
            </a:r>
            <a:r>
              <a:rPr lang="en-US" sz="1200" dirty="0">
                <a:solidFill>
                  <a:schemeClr val="accent2"/>
                </a:solidFill>
              </a:rPr>
              <a:t> </a:t>
            </a:r>
            <a:r>
              <a:rPr lang="en-US" sz="1200" dirty="0" err="1">
                <a:solidFill>
                  <a:schemeClr val="accent2"/>
                </a:solidFill>
              </a:rPr>
              <a:t>cambiando</a:t>
            </a:r>
            <a:r>
              <a:rPr lang="en-US" sz="1200" dirty="0">
                <a:solidFill>
                  <a:schemeClr val="accent2"/>
                </a:solidFill>
              </a:rPr>
              <a:t> el color. </a:t>
            </a:r>
            <a:endParaRPr lang="en-US" sz="1200" dirty="0"/>
          </a:p>
        </p:txBody>
      </p:sp>
      <p:sp>
        <p:nvSpPr>
          <p:cNvPr id="29" name="figura"/>
          <p:cNvSpPr/>
          <p:nvPr/>
        </p:nvSpPr>
        <p:spPr>
          <a:xfrm>
            <a:off x="4269516" y="1983516"/>
            <a:ext cx="184343" cy="184343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 txBox="1"/>
          <p:nvPr/>
        </p:nvSpPr>
        <p:spPr>
          <a:xfrm>
            <a:off x="46634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</a:rPr>
              <a:t>Botones de 3 posiciones por luz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663440" y="21945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Eliges rojo, verde o azul, y la figura se </a:t>
            </a:r>
            <a:r>
              <a:rPr lang="en-US" sz="1200" dirty="0" err="1">
                <a:solidFill>
                  <a:schemeClr val="accent2"/>
                </a:solidFill>
              </a:rPr>
              <a:t>ve</a:t>
            </a:r>
            <a:r>
              <a:rPr lang="en-US" sz="1200" dirty="0">
                <a:solidFill>
                  <a:schemeClr val="accent2"/>
                </a:solidFill>
              </a:rPr>
              <a:t> </a:t>
            </a:r>
            <a:r>
              <a:rPr lang="en-US" sz="1200" dirty="0" err="1">
                <a:solidFill>
                  <a:schemeClr val="accent2"/>
                </a:solidFill>
              </a:rPr>
              <a:t>en</a:t>
            </a:r>
            <a:r>
              <a:rPr lang="en-US" sz="1200" dirty="0">
                <a:solidFill>
                  <a:schemeClr val="accent2"/>
                </a:solidFill>
              </a:rPr>
              <a:t> una pantallita.</a:t>
            </a:r>
            <a:endParaRPr lang="en-US" sz="1200" dirty="0"/>
          </a:p>
        </p:txBody>
      </p:sp>
      <p:sp>
        <p:nvSpPr>
          <p:cNvPr id="32" name="figura"/>
          <p:cNvSpPr/>
          <p:nvPr/>
        </p:nvSpPr>
        <p:spPr>
          <a:xfrm>
            <a:off x="4251960" y="2697480"/>
            <a:ext cx="219456" cy="219456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 txBox="1"/>
          <p:nvPr/>
        </p:nvSpPr>
        <p:spPr>
          <a:xfrm>
            <a:off x="4663440" y="2651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</a:rPr>
              <a:t>Botón de disparo como obturador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663440" y="29260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Enciende el destello y lo apaga para pasar a la siguiente línea.</a:t>
            </a:r>
            <a:endParaRPr lang="en-US" sz="1200" dirty="0"/>
          </a:p>
        </p:txBody>
      </p:sp>
      <p:sp>
        <p:nvSpPr>
          <p:cNvPr id="35" name="figura"/>
          <p:cNvSpPr/>
          <p:nvPr/>
        </p:nvSpPr>
        <p:spPr>
          <a:xfrm>
            <a:off x="4251960" y="3429000"/>
            <a:ext cx="219456" cy="219456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 txBox="1"/>
          <p:nvPr/>
        </p:nvSpPr>
        <p:spPr>
          <a:xfrm>
            <a:off x="4663440" y="3383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</a:rPr>
              <a:t>Una app con OpenCV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663440" y="3657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Fotografía con el móvil y traduce a C en directo, en cualquier sitio.</a:t>
            </a:r>
            <a:endParaRPr lang="en-US" sz="12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40" name="LED 1">
            <a:extLst>
              <a:ext uri="{FF2B5EF4-FFF2-40B4-BE49-F238E27FC236}">
                <a16:creationId xmlns:a16="http://schemas.microsoft.com/office/drawing/2014/main" id="{945BDA31-A8E0-4747-CEE8-8E994E0977FE}"/>
              </a:ext>
            </a:extLst>
          </p:cNvPr>
          <p:cNvSpPr/>
          <p:nvPr/>
        </p:nvSpPr>
        <p:spPr>
          <a:xfrm>
            <a:off x="911352" y="2225186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LED 2">
            <a:extLst>
              <a:ext uri="{FF2B5EF4-FFF2-40B4-BE49-F238E27FC236}">
                <a16:creationId xmlns:a16="http://schemas.microsoft.com/office/drawing/2014/main" id="{57B45EE1-922D-734C-575F-E76393040C2C}"/>
              </a:ext>
            </a:extLst>
          </p:cNvPr>
          <p:cNvSpPr/>
          <p:nvPr/>
        </p:nvSpPr>
        <p:spPr>
          <a:xfrm>
            <a:off x="1677375" y="2534900"/>
            <a:ext cx="261153" cy="261153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6" name="LED 3">
            <a:extLst>
              <a:ext uri="{FF2B5EF4-FFF2-40B4-BE49-F238E27FC236}">
                <a16:creationId xmlns:a16="http://schemas.microsoft.com/office/drawing/2014/main" id="{648A52DA-02B9-ABE2-C7B4-05A08959D1CD}"/>
              </a:ext>
            </a:extLst>
          </p:cNvPr>
          <p:cNvSpPr/>
          <p:nvPr/>
        </p:nvSpPr>
        <p:spPr>
          <a:xfrm>
            <a:off x="2377440" y="2779776"/>
            <a:ext cx="310896" cy="310896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8" name="LED 4">
            <a:extLst>
              <a:ext uri="{FF2B5EF4-FFF2-40B4-BE49-F238E27FC236}">
                <a16:creationId xmlns:a16="http://schemas.microsoft.com/office/drawing/2014/main" id="{59A068B0-8F6A-8152-3F62-824E0E5E724F}"/>
              </a:ext>
            </a:extLst>
          </p:cNvPr>
          <p:cNvSpPr/>
          <p:nvPr/>
        </p:nvSpPr>
        <p:spPr>
          <a:xfrm>
            <a:off x="3108960" y="2231136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801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¡Gracias por vuestra atención!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Esperamos que os haya gustado.</a:t>
            </a:r>
            <a:endParaRPr lang="en-US" sz="1800" dirty="0"/>
          </a:p>
        </p:txBody>
      </p:sp>
      <p:sp>
        <p:nvSpPr>
          <p:cNvPr id="4" name="linterna 1"/>
          <p:cNvSpPr/>
          <p:nvPr/>
        </p:nvSpPr>
        <p:spPr>
          <a:xfrm>
            <a:off x="548640" y="3429000"/>
            <a:ext cx="292608" cy="292608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linterna 2"/>
          <p:cNvSpPr/>
          <p:nvPr/>
        </p:nvSpPr>
        <p:spPr>
          <a:xfrm>
            <a:off x="1174090" y="3429000"/>
            <a:ext cx="292608" cy="292608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linterna 3"/>
          <p:cNvSpPr/>
          <p:nvPr/>
        </p:nvSpPr>
        <p:spPr>
          <a:xfrm>
            <a:off x="1594714" y="3429000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linterna 4"/>
          <p:cNvSpPr/>
          <p:nvPr/>
        </p:nvSpPr>
        <p:spPr>
          <a:xfrm>
            <a:off x="2015338" y="3429000"/>
            <a:ext cx="292608" cy="292608"/>
          </a:xfrm>
          <a:prstGeom prst="triangl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2651760" y="34290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FIN  ·  PARAR</a:t>
            </a:r>
            <a:endParaRPr lang="en-US" sz="1400" dirty="0"/>
          </a:p>
        </p:txBody>
      </p:sp>
      <p:pic>
        <p:nvPicPr>
          <p:cNvPr id="9" name="logo del pulpo" descr="logo_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051560"/>
            <a:ext cx="2926080" cy="289995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stello">
  <a:themeElements>
    <a:clrScheme name="Destello">
      <a:dk1>
        <a:srgbClr val="14122B"/>
      </a:dk1>
      <a:lt1>
        <a:srgbClr val="FFFFFF"/>
      </a:lt1>
      <a:dk2>
        <a:srgbClr val="221F45"/>
      </a:dk2>
      <a:lt2>
        <a:srgbClr val="F3EFE6"/>
      </a:lt2>
      <a:accent1>
        <a:srgbClr val="8A6BE8"/>
      </a:accent1>
      <a:accent2>
        <a:srgbClr val="A9A3C9"/>
      </a:accent2>
      <a:accent3>
        <a:srgbClr val="E5484D"/>
      </a:accent3>
      <a:accent4>
        <a:srgbClr val="2DB36F"/>
      </a:accent4>
      <a:accent5>
        <a:srgbClr val="3D7BFF"/>
      </a:accent5>
      <a:accent6>
        <a:srgbClr val="F4C95D"/>
      </a:accent6>
      <a:hlink>
        <a:srgbClr val="8A6BE8"/>
      </a:hlink>
      <a:folHlink>
        <a:srgbClr val="A9A3C9"/>
      </a:folHlink>
    </a:clrScheme>
    <a:fontScheme name="Destello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1706</Words>
  <Application>Microsoft Office PowerPoint</Application>
  <PresentationFormat>Presentación en pantalla (16:9)</PresentationFormat>
  <Paragraphs>290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Courier New</vt:lpstr>
      <vt:lpstr>Trebuchet MS</vt:lpstr>
      <vt:lpstr>Destello</vt:lpstr>
      <vt:lpstr>Destello</vt:lpstr>
      <vt:lpstr>Índice</vt:lpstr>
      <vt:lpstr>¿Qué es un lenguaje esotérico?</vt:lpstr>
      <vt:lpstr>Un visitante de las profundidades</vt:lpstr>
      <vt:lpstr>De la luz al código: la máquina de Octavio</vt:lpstr>
      <vt:lpstr>Inspiración de creación del mecanismo:</vt:lpstr>
      <vt:lpstr>Colores que también se ven sin color</vt:lpstr>
      <vt:lpstr>Materiales</vt:lpstr>
      <vt:lpstr>Cómo se lee un destello</vt:lpstr>
      <vt:lpstr>Un lenguaje de pila</vt:lpstr>
      <vt:lpstr>Ejemplo 1 · Hola</vt:lpstr>
      <vt:lpstr>Ejemplo 2 · if / else: ¿par o impar?</vt:lpstr>
      <vt:lpstr>Ejemplo 3 · Bucle while: cuenta atrás</vt:lpstr>
      <vt:lpstr>Conclusión: Destello de bolsillo  con tecnología integrada</vt:lpstr>
      <vt:lpstr>¡Gracias por vuestra atención!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Destello</dc:title>
  <dc:subject>PptxGenJS Presentation</dc:subject>
  <dc:creator>Equipo Destello</dc:creator>
  <cp:lastModifiedBy>camila montoya morales</cp:lastModifiedBy>
  <cp:revision>2</cp:revision>
  <dcterms:created xsi:type="dcterms:W3CDTF">2026-10-05T15:23:03Z</dcterms:created>
  <dcterms:modified xsi:type="dcterms:W3CDTF">2026-10-07T16:40:29Z</dcterms:modified>
</cp:coreProperties>
</file>